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795000" cy="6089650"/>
  <p:notesSz cx="9947275" cy="6858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7" d="100"/>
          <a:sy n="117" d="100"/>
        </p:scale>
        <p:origin x="750" y="126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27184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4310063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7407463" name="Дата 2"/>
          <p:cNvSpPr>
            <a:spLocks noGrp="1"/>
          </p:cNvSpPr>
          <p:nvPr>
            <p:ph type="dt" idx="1"/>
          </p:nvPr>
        </p:nvSpPr>
        <p:spPr bwMode="auto">
          <a:xfrm>
            <a:off x="5634038" y="0"/>
            <a:ext cx="431165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CAAB1F1-E4E4-4580-BBAE-63C25123BDBC}" type="datetimeFigureOut">
              <a:rPr lang="ru-RU"/>
              <a:t>02.06.2026</a:t>
            </a:fld>
            <a:endParaRPr lang="ru-RU"/>
          </a:p>
        </p:txBody>
      </p:sp>
      <p:sp>
        <p:nvSpPr>
          <p:cNvPr id="189004789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693988" y="514350"/>
            <a:ext cx="45593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4828060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995363" y="3257550"/>
            <a:ext cx="795655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3633966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6513513"/>
            <a:ext cx="4310063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959630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5634038" y="6513513"/>
            <a:ext cx="431165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5BBF0BC-6D3E-4083-9EEF-5D95B95CC8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01575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04938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176720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50554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394689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0337252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6677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59111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84195158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262433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91198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49544918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671393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280063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209430168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772395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94836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47411130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68024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801792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39091154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37448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50770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204173909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328120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03982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32180020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93235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00000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127967333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4915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19378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/>
          </a:p>
        </p:txBody>
      </p:sp>
      <p:sp>
        <p:nvSpPr>
          <p:cNvPr id="201728116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BF0BC-6D3E-4083-9EEF-5D95B95CC84F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098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1301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90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157EAA-4C37-6818-DA8C-AF711F823A3D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117480" name="Holder 2"/>
          <p:cNvSpPr>
            <a:spLocks noGrp="1"/>
          </p:cNvSpPr>
          <p:nvPr>
            <p:ph type="ctrTitle"/>
          </p:nvPr>
        </p:nvSpPr>
        <p:spPr bwMode="auto">
          <a:xfrm>
            <a:off x="810101" y="1887791"/>
            <a:ext cx="9181148" cy="127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3372450" name="Holder 3"/>
          <p:cNvSpPr>
            <a:spLocks noGrp="1"/>
          </p:cNvSpPr>
          <p:nvPr>
            <p:ph type="subTitle" idx="4"/>
          </p:nvPr>
        </p:nvSpPr>
        <p:spPr bwMode="auto">
          <a:xfrm>
            <a:off x="1620202" y="3410204"/>
            <a:ext cx="7560945" cy="152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90921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15849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5957902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90889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9085640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7316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51932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49245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5080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3552086" name="Holder 3"/>
          <p:cNvSpPr>
            <a:spLocks noGrp="1"/>
          </p:cNvSpPr>
          <p:nvPr>
            <p:ph sz="half" idx="2"/>
          </p:nvPr>
        </p:nvSpPr>
        <p:spPr bwMode="auto">
          <a:xfrm>
            <a:off x="540067" y="1400619"/>
            <a:ext cx="4698587" cy="4019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8172446" name="Holder 4"/>
          <p:cNvSpPr>
            <a:spLocks noGrp="1"/>
          </p:cNvSpPr>
          <p:nvPr>
            <p:ph sz="half" idx="3"/>
          </p:nvPr>
        </p:nvSpPr>
        <p:spPr bwMode="auto">
          <a:xfrm>
            <a:off x="5562695" y="1400619"/>
            <a:ext cx="4698587" cy="4019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575113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860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2798292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04564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03674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31668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148382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28943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661551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27549939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615237" name="bg object 16"/>
          <p:cNvSpPr/>
          <p:nvPr/>
        </p:nvSpPr>
        <p:spPr bwMode="auto">
          <a:xfrm>
            <a:off x="0" y="0"/>
            <a:ext cx="10800002" cy="6083998"/>
          </a:xfrm>
          <a:prstGeom prst="rect">
            <a:avLst/>
          </a:prstGeom>
          <a:blipFill>
            <a:blip r:embed="rId7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5027500" name="Holder 2"/>
          <p:cNvSpPr>
            <a:spLocks noGrp="1"/>
          </p:cNvSpPr>
          <p:nvPr>
            <p:ph type="title"/>
          </p:nvPr>
        </p:nvSpPr>
        <p:spPr bwMode="auto">
          <a:xfrm>
            <a:off x="839299" y="350377"/>
            <a:ext cx="91227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25017" name="Holder 3"/>
          <p:cNvSpPr>
            <a:spLocks noGrp="1"/>
          </p:cNvSpPr>
          <p:nvPr>
            <p:ph type="body" idx="1"/>
          </p:nvPr>
        </p:nvSpPr>
        <p:spPr bwMode="auto">
          <a:xfrm>
            <a:off x="1453000" y="2932442"/>
            <a:ext cx="7895348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316147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672459" y="5663374"/>
            <a:ext cx="3456432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049586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540067" y="5663374"/>
            <a:ext cx="2484310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138297961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7776971" y="5663374"/>
            <a:ext cx="2484310" cy="304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jpg"/><Relationship Id="rId7" Type="http://schemas.openxmlformats.org/officeDocument/2006/relationships/image" Target="../media/image4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126324" name="Прямоугольник 3"/>
          <p:cNvSpPr/>
          <p:nvPr/>
        </p:nvSpPr>
        <p:spPr bwMode="auto">
          <a:xfrm>
            <a:off x="-2540" y="3351290"/>
            <a:ext cx="10800080" cy="2738360"/>
          </a:xfrm>
          <a:prstGeom prst="rect">
            <a:avLst/>
          </a:prstGeom>
          <a:gradFill>
            <a:gsLst>
              <a:gs pos="0">
                <a:srgbClr val="F7AB3B"/>
              </a:gs>
              <a:gs pos="50000">
                <a:srgbClr val="220F95">
                  <a:shade val="67500"/>
                  <a:satMod val="115000"/>
                </a:srgbClr>
              </a:gs>
              <a:gs pos="100000">
                <a:srgbClr val="220F95">
                  <a:shade val="100000"/>
                  <a:satMod val="115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80237286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20245" y="3326529"/>
            <a:ext cx="2663413" cy="2549115"/>
          </a:xfrm>
          <a:prstGeom prst="rect">
            <a:avLst/>
          </a:prstGeom>
        </p:spPr>
      </p:pic>
      <p:sp>
        <p:nvSpPr>
          <p:cNvPr id="1924739988" name="object 19"/>
          <p:cNvSpPr/>
          <p:nvPr/>
        </p:nvSpPr>
        <p:spPr bwMode="auto">
          <a:xfrm>
            <a:off x="0" y="2618997"/>
            <a:ext cx="10789920" cy="732291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sp>
        <p:nvSpPr>
          <p:cNvPr id="2134564069" name="object 12"/>
          <p:cNvSpPr txBox="1"/>
          <p:nvPr/>
        </p:nvSpPr>
        <p:spPr bwMode="auto">
          <a:xfrm>
            <a:off x="494464" y="3474742"/>
            <a:ext cx="8301132" cy="2370179"/>
          </a:xfrm>
          <a:prstGeom prst="rect">
            <a:avLst/>
          </a:prstGeom>
        </p:spPr>
        <p:txBody>
          <a:bodyPr vert="horz" wrap="square" lIns="0" tIns="130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Студента 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3 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курса группы ИС-235 по направлению подготовки </a:t>
            </a:r>
            <a:r>
              <a:rPr lang="ru-RU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09.02.07.00</a:t>
            </a:r>
            <a:endParaRPr/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Королева Матвея Евгеньевича</a:t>
            </a:r>
            <a:endParaRPr lang="en-US" b="1" spc="-15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Руководитель практики от филиала 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КузГТУ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 в 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г.Белово</a:t>
            </a:r>
            <a:r>
              <a:rPr lang="ru-RU" b="1">
                <a:solidFill>
                  <a:schemeClr val="bg1"/>
                </a:solidFill>
                <a:latin typeface="Times New Roman"/>
                <a:cs typeface="Times New Roman"/>
              </a:rPr>
              <a:t>: </a:t>
            </a:r>
            <a:endParaRPr/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Витвицкий</a:t>
            </a:r>
            <a:r>
              <a:rPr lang="ru-RU" b="1" spc="-15">
                <a:solidFill>
                  <a:schemeClr val="bg1"/>
                </a:solidFill>
                <a:latin typeface="Times New Roman"/>
                <a:cs typeface="Times New Roman"/>
              </a:rPr>
              <a:t> Максим Николаевич</a:t>
            </a:r>
            <a:endParaRPr lang="en-US" b="1" spc="-15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endParaRPr lang="en-US" sz="1700" b="1" spc="-15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defRPr/>
            </a:pPr>
            <a:endParaRPr sz="150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1372934076" name="object 23"/>
          <p:cNvSpPr txBox="1">
            <a:spLocks noGrp="1"/>
          </p:cNvSpPr>
          <p:nvPr>
            <p:ph type="title"/>
          </p:nvPr>
        </p:nvSpPr>
        <p:spPr bwMode="auto">
          <a:xfrm>
            <a:off x="1422324" y="2504485"/>
            <a:ext cx="8369399" cy="76743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algn="ctr">
              <a:lnSpc>
                <a:spcPts val="2700"/>
              </a:lnSpc>
              <a:spcBef>
                <a:spcPts val="1200"/>
              </a:spcBef>
              <a:defRPr/>
            </a:pPr>
            <a:r>
              <a:rPr lang="ru-RU" sz="2400"/>
              <a:t>ОТЧЕТ ПО УЧЕБНОЙ ПРАКТИКЕ</a:t>
            </a:r>
            <a:br>
              <a:rPr lang="ru-RU" sz="2400"/>
            </a:br>
            <a:r>
              <a:rPr lang="ru-RU" sz="2000"/>
              <a:t>ПМ.06.01 </a:t>
            </a:r>
            <a:r>
              <a:rPr lang="ru-RU" sz="200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sz="2000">
                <a:latin typeface="Arial"/>
                <a:ea typeface="Arial"/>
                <a:cs typeface="Arial"/>
              </a:rPr>
              <a:t>Сопровождение информационных систем</a:t>
            </a:r>
            <a:r>
              <a:rPr lang="ru-RU" sz="200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sz="2000" cap="all" spc="-5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4203027" name="object 9"/>
          <p:cNvSpPr/>
          <p:nvPr/>
        </p:nvSpPr>
        <p:spPr bwMode="auto">
          <a:xfrm>
            <a:off x="6374827" y="1642753"/>
            <a:ext cx="530044" cy="710095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918546" name="CustomShape 151"/>
          <p:cNvSpPr>
            <a:spLocks noChangeAspect="1"/>
          </p:cNvSpPr>
          <p:nvPr/>
        </p:nvSpPr>
        <p:spPr bwMode="auto">
          <a:xfrm>
            <a:off x="3619029" y="1715176"/>
            <a:ext cx="609535" cy="593482"/>
          </a:xfrm>
          <a:prstGeom prst="rect">
            <a:avLst/>
          </a:prstGeom>
          <a:blipFill>
            <a:blip r:embed="rId5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409805342" name="TextBox 31"/>
          <p:cNvSpPr txBox="1"/>
          <p:nvPr/>
        </p:nvSpPr>
        <p:spPr bwMode="auto">
          <a:xfrm>
            <a:off x="4814436" y="5721265"/>
            <a:ext cx="1837363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ru-RU" sz="1400" b="1" spc="10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Белово,</a:t>
            </a:r>
            <a:r>
              <a:rPr lang="ru-RU" sz="1400" b="1" spc="15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 </a:t>
            </a:r>
            <a:r>
              <a:rPr lang="ru-RU" sz="1400" b="1" spc="-5">
                <a:solidFill>
                  <a:schemeClr val="tx2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2026</a:t>
            </a:r>
            <a:endParaRPr lang="ru-RU" sz="1400" b="1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25944603" name="object 19"/>
          <p:cNvSpPr/>
          <p:nvPr/>
        </p:nvSpPr>
        <p:spPr bwMode="auto">
          <a:xfrm>
            <a:off x="-5080" y="3304625"/>
            <a:ext cx="10800080" cy="53452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sp>
        <p:nvSpPr>
          <p:cNvPr id="1820301310" name="object 19"/>
          <p:cNvSpPr/>
          <p:nvPr/>
        </p:nvSpPr>
        <p:spPr bwMode="auto">
          <a:xfrm>
            <a:off x="15240" y="2395538"/>
            <a:ext cx="10800080" cy="94066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800"/>
                </a:moveTo>
                <a:lnTo>
                  <a:pt x="10774603" y="50800"/>
                </a:lnTo>
                <a:lnTo>
                  <a:pt x="10774603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wrap="square" lIns="0" tIns="0" rIns="0" bIns="0" rtlCol="0"/>
          <a:lstStyle/>
          <a:p>
            <a:pPr>
              <a:defRPr/>
            </a:pPr>
            <a:endParaRPr>
              <a:solidFill>
                <a:srgbClr val="00B0F0"/>
              </a:solidFill>
            </a:endParaRPr>
          </a:p>
        </p:txBody>
      </p:sp>
      <p:pic>
        <p:nvPicPr>
          <p:cNvPr id="785579116" name="Рисунок 1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82468" y="1663949"/>
            <a:ext cx="453844" cy="718805"/>
          </a:xfrm>
          <a:prstGeom prst="rect">
            <a:avLst/>
          </a:prstGeom>
        </p:spPr>
      </p:pic>
      <p:sp>
        <p:nvSpPr>
          <p:cNvPr id="2085230409" name="TextBox 16"/>
          <p:cNvSpPr txBox="1"/>
          <p:nvPr/>
        </p:nvSpPr>
        <p:spPr bwMode="auto">
          <a:xfrm>
            <a:off x="-75404" y="162812"/>
            <a:ext cx="7998400" cy="141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МИНИСТЕРСТВО НАУКИ И ВЫСШЕГО ОБРАЗОВАНИЯ РОССИЙСКОЙ ФЕДЕРАЦИИ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Федеральное государственное бюджетное образовательное учреждение высшего образования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marL="6350" marR="6350" indent="-6350" algn="ctr">
              <a:lnSpc>
                <a:spcPct val="112000"/>
              </a:lnSpc>
              <a:spcAft>
                <a:spcPts val="575"/>
              </a:spcAft>
              <a:defRPr/>
            </a:pPr>
            <a:r>
              <a:rPr lang="ru-RU" sz="1300" b="1">
                <a:solidFill>
                  <a:srgbClr val="000000"/>
                </a:solidFill>
                <a:latin typeface="Times New Roman"/>
                <a:ea typeface="Times New Roman"/>
              </a:rPr>
              <a:t>«КУЗБАССКИЙ ГОСУДАРСТВЕННЫЙ ТЕХНИЧЕСКИЙ УНИВЕРСИТЕТ ИМЕНИ Т.Ф.ГОРБАЧЕВА»</a:t>
            </a:r>
            <a:endParaRPr lang="ru-RU" sz="130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ctr">
              <a:defRPr/>
            </a:pPr>
            <a:r>
              <a:rPr lang="ru-RU" sz="1300">
                <a:solidFill>
                  <a:srgbClr val="000000"/>
                </a:solidFill>
                <a:latin typeface="Times New Roman"/>
                <a:ea typeface="Times New Roman"/>
              </a:rPr>
              <a:t>Филиал КузГТУ в г. Белово</a:t>
            </a:r>
            <a:endParaRPr lang="ru-RU" sz="1300"/>
          </a:p>
        </p:txBody>
      </p:sp>
      <p:pic>
        <p:nvPicPr>
          <p:cNvPr id="1537711085" name="Рисунок 867035233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379392" y="308970"/>
            <a:ext cx="3314700" cy="213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897777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314323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8721363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Актуальность</a:t>
            </a:r>
            <a:endParaRPr/>
          </a:p>
        </p:txBody>
      </p:sp>
      <p:sp>
        <p:nvSpPr>
          <p:cNvPr id="599759186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30441225" name="TextBox 19"/>
          <p:cNvSpPr txBox="1"/>
          <p:nvPr/>
        </p:nvSpPr>
        <p:spPr bwMode="auto">
          <a:xfrm>
            <a:off x="736952" y="1216025"/>
            <a:ext cx="93608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Ключевая цель:</a:t>
            </a:r>
            <a:r>
              <a:rPr lang="ru-RU" sz="2000">
                <a:latin typeface="Times New Roman"/>
                <a:cs typeface="Times New Roman"/>
              </a:rPr>
              <a:t> Комплексное освоение всех видов профессиональной деятельности по специальности «Информационные системы и программирование».</a:t>
            </a:r>
            <a:endParaRPr/>
          </a:p>
          <a:p>
            <a:pPr algn="just"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Почему это важно:</a:t>
            </a:r>
            <a:endParaRPr lang="ru-RU" sz="2000">
              <a:latin typeface="Times New Roman"/>
              <a:cs typeface="Times New Roman"/>
            </a:endParaRPr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Формирование общих и профессиональных </a:t>
            </a:r>
            <a:r>
              <a:rPr lang="ru-RU" sz="2000">
                <a:latin typeface="Times New Roman"/>
                <a:cs typeface="Times New Roman"/>
              </a:rPr>
              <a:t>компетенций.</a:t>
            </a:r>
            <a:endParaRPr lang="ru-RU" sz="2000">
              <a:latin typeface="Times New Roman"/>
              <a:cs typeface="Times New Roman"/>
            </a:endParaRPr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Приобретение первоначального практического опыта, необходимого для работы.</a:t>
            </a:r>
            <a:endParaRPr/>
          </a:p>
          <a:p>
            <a:pPr marL="0" lvl="1" indent="176213" algn="just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Подготовка к последующему освоению профессиональных модулей.</a:t>
            </a:r>
            <a:endParaRPr/>
          </a:p>
          <a:p>
            <a:pPr marL="0" lvl="1" algn="just"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Практическая ценность:</a:t>
            </a:r>
            <a:r>
              <a:rPr lang="ru-RU" sz="2000">
                <a:latin typeface="Times New Roman"/>
                <a:cs typeface="Times New Roman"/>
              </a:rPr>
              <a:t> Создание реально работающего прототипа информационной системы (Интернет-магазин «</a:t>
            </a:r>
            <a:r>
              <a:rPr lang="ru-RU" sz="2000">
                <a:latin typeface="Times New Roman"/>
                <a:cs typeface="Times New Roman"/>
              </a:rPr>
              <a:t>Кавай</a:t>
            </a:r>
            <a:r>
              <a:rPr lang="ru-RU" sz="2000">
                <a:latin typeface="Times New Roman"/>
                <a:cs typeface="Times New Roman"/>
              </a:rPr>
              <a:t> Магазин»).</a:t>
            </a:r>
            <a:endParaRPr/>
          </a:p>
        </p:txBody>
      </p:sp>
      <p:sp>
        <p:nvSpPr>
          <p:cNvPr id="623463720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6727564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534040982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2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277981654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148653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49220714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4522326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Цель и задачи практики</a:t>
            </a:r>
            <a:endParaRPr/>
          </a:p>
        </p:txBody>
      </p:sp>
      <p:sp>
        <p:nvSpPr>
          <p:cNvPr id="2047868327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0986444" name="TextBox 19"/>
          <p:cNvSpPr txBox="1"/>
          <p:nvPr/>
        </p:nvSpPr>
        <p:spPr bwMode="auto">
          <a:xfrm>
            <a:off x="494104" y="939960"/>
            <a:ext cx="998548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Цель:</a:t>
            </a:r>
            <a:r>
              <a:rPr lang="ru-RU" sz="2000">
                <a:latin typeface="Times New Roman"/>
                <a:cs typeface="Times New Roman"/>
              </a:rPr>
              <a:t> Приобретение навыков </a:t>
            </a:r>
            <a:r>
              <a:rPr lang="ru-RU" sz="2000">
                <a:latin typeface="Times New Roman"/>
                <a:cs typeface="Times New Roman"/>
              </a:rPr>
              <a:t>соадминистрирования</a:t>
            </a:r>
            <a:r>
              <a:rPr lang="ru-RU" sz="2000">
                <a:latin typeface="Times New Roman"/>
                <a:cs typeface="Times New Roman"/>
              </a:rPr>
              <a:t> баз данных и серверов, а также разработка учебной базы данных для интернет-магазина.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 sz="2000" b="1">
                <a:latin typeface="Times New Roman"/>
                <a:cs typeface="Times New Roman"/>
              </a:rPr>
              <a:t>Задачи:</a:t>
            </a:r>
            <a:endParaRPr lang="ru-RU" sz="20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Изучить теоретические основы администрирования БД (ACID, блокировки, журналы).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Спроектировать логическую и физическую схему данных.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Реализовать базу данных в СУБД </a:t>
            </a:r>
            <a:r>
              <a:rPr lang="ru-RU" sz="2000">
                <a:latin typeface="Times New Roman"/>
                <a:cs typeface="Times New Roman"/>
              </a:rPr>
              <a:t>MySQL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Разработать хранимые процедуры и триггеры для бизнес-логики.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Настроить сетевую инфраструктуру и безопасность сервера.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2000">
                <a:latin typeface="Times New Roman"/>
                <a:cs typeface="Times New Roman"/>
              </a:rPr>
              <a:t>Изучить установку и настройку </a:t>
            </a:r>
            <a:r>
              <a:rPr lang="ru-RU" sz="2000">
                <a:latin typeface="Times New Roman"/>
                <a:cs typeface="Times New Roman"/>
              </a:rPr>
              <a:t>MySQL</a:t>
            </a:r>
            <a:r>
              <a:rPr lang="ru-RU" sz="2000">
                <a:latin typeface="Times New Roman"/>
                <a:cs typeface="Times New Roman"/>
              </a:rPr>
              <a:t> на ОС </a:t>
            </a:r>
            <a:r>
              <a:rPr lang="ru-RU" sz="2000">
                <a:latin typeface="Times New Roman"/>
                <a:cs typeface="Times New Roman"/>
              </a:rPr>
              <a:t>Windows</a:t>
            </a:r>
            <a:r>
              <a:rPr lang="ru-RU" sz="2000">
                <a:latin typeface="Times New Roman"/>
                <a:cs typeface="Times New Roman"/>
              </a:rPr>
              <a:t> и </a:t>
            </a:r>
            <a:r>
              <a:rPr lang="ru-RU" sz="2000">
                <a:latin typeface="Times New Roman"/>
                <a:cs typeface="Times New Roman"/>
              </a:rPr>
              <a:t>Linux</a:t>
            </a:r>
            <a:r>
              <a:rPr lang="ru-RU" sz="2000">
                <a:latin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1042058202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26528793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513501225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3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87852545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315721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4290687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9631225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Объект и предмет практики</a:t>
            </a:r>
            <a:endParaRPr/>
          </a:p>
        </p:txBody>
      </p:sp>
      <p:sp>
        <p:nvSpPr>
          <p:cNvPr id="1927623255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96924170" name="TextBox 19"/>
          <p:cNvSpPr txBox="1"/>
          <p:nvPr/>
        </p:nvSpPr>
        <p:spPr bwMode="auto">
          <a:xfrm>
            <a:off x="0" y="568424"/>
            <a:ext cx="403424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Объект:</a:t>
            </a:r>
            <a:endParaRPr lang="ru-RU" sz="16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СУБД </a:t>
            </a:r>
            <a:r>
              <a:rPr lang="ru-RU" sz="1600" b="1">
                <a:latin typeface="Times New Roman"/>
                <a:cs typeface="Times New Roman"/>
              </a:rPr>
              <a:t>MySQL</a:t>
            </a:r>
            <a:r>
              <a:rPr lang="ru-RU" sz="1600">
                <a:latin typeface="Times New Roman"/>
                <a:cs typeface="Times New Roman"/>
              </a:rPr>
              <a:t>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ОС </a:t>
            </a:r>
            <a:r>
              <a:rPr lang="ru-RU" sz="1600" b="1">
                <a:latin typeface="Times New Roman"/>
                <a:cs typeface="Times New Roman"/>
              </a:rPr>
              <a:t>Windows</a:t>
            </a:r>
            <a:r>
              <a:rPr lang="ru-RU" sz="1600">
                <a:latin typeface="Times New Roman"/>
                <a:cs typeface="Times New Roman"/>
              </a:rPr>
              <a:t> и </a:t>
            </a:r>
            <a:r>
              <a:rPr lang="ru-RU" sz="1600" b="1">
                <a:latin typeface="Times New Roman"/>
                <a:cs typeface="Times New Roman"/>
              </a:rPr>
              <a:t>Linux</a:t>
            </a:r>
            <a:r>
              <a:rPr lang="ru-RU" sz="1600" b="1">
                <a:latin typeface="Times New Roman"/>
                <a:cs typeface="Times New Roman"/>
              </a:rPr>
              <a:t> (</a:t>
            </a:r>
            <a:r>
              <a:rPr lang="ru-RU" sz="1600" b="1">
                <a:latin typeface="Times New Roman"/>
                <a:cs typeface="Times New Roman"/>
              </a:rPr>
              <a:t>RedOS</a:t>
            </a:r>
            <a:r>
              <a:rPr lang="ru-RU" sz="1600" b="1">
                <a:latin typeface="Times New Roman"/>
                <a:cs typeface="Times New Roman"/>
              </a:rPr>
              <a:t>)</a:t>
            </a:r>
            <a:r>
              <a:rPr lang="ru-RU" sz="1600">
                <a:latin typeface="Times New Roman"/>
                <a:cs typeface="Times New Roman"/>
              </a:rPr>
              <a:t>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Корпоративная сеть предприятия.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Предмет:</a:t>
            </a:r>
            <a:endParaRPr lang="ru-RU" sz="1600">
              <a:latin typeface="Times New Roman"/>
              <a:cs typeface="Times New Roman"/>
            </a:endParaRPr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Процессы </a:t>
            </a:r>
            <a:r>
              <a:rPr lang="ru-RU" sz="1600">
                <a:latin typeface="Times New Roman"/>
                <a:cs typeface="Times New Roman"/>
              </a:rPr>
              <a:t>соадминистрирования</a:t>
            </a:r>
            <a:r>
              <a:rPr lang="ru-RU" sz="1600">
                <a:latin typeface="Times New Roman"/>
                <a:cs typeface="Times New Roman"/>
              </a:rPr>
              <a:t> (установка, настройка).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Язык </a:t>
            </a:r>
            <a:r>
              <a:rPr lang="ru-RU" sz="1600" b="1">
                <a:latin typeface="Times New Roman"/>
                <a:cs typeface="Times New Roman"/>
              </a:rPr>
              <a:t>SQL</a:t>
            </a:r>
            <a:r>
              <a:rPr lang="ru-RU" sz="1600">
                <a:latin typeface="Times New Roman"/>
                <a:cs typeface="Times New Roman"/>
              </a:rPr>
              <a:t>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Архитектура </a:t>
            </a:r>
            <a:r>
              <a:rPr lang="ru-RU" sz="1600" b="1">
                <a:latin typeface="Times New Roman"/>
                <a:cs typeface="Times New Roman"/>
              </a:rPr>
              <a:t>«клиент-сервер»</a:t>
            </a:r>
            <a:r>
              <a:rPr lang="ru-RU" sz="1600">
                <a:latin typeface="Times New Roman"/>
                <a:cs typeface="Times New Roman"/>
              </a:rPr>
              <a:t>.</a:t>
            </a:r>
            <a:endParaRPr/>
          </a:p>
          <a:p>
            <a:pPr marL="0" lvl="1" indent="176213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Механизмы отказоустойчивости</a:t>
            </a:r>
            <a:r>
              <a:rPr lang="ru-RU" sz="1600">
                <a:latin typeface="Times New Roman"/>
                <a:cs typeface="Times New Roman"/>
              </a:rPr>
              <a:t>.</a:t>
            </a:r>
            <a:endParaRPr lang="ru-RU" sz="1600">
              <a:latin typeface="Times New Roman"/>
              <a:cs typeface="Times New Roman"/>
            </a:endParaRPr>
          </a:p>
        </p:txBody>
      </p:sp>
      <p:sp>
        <p:nvSpPr>
          <p:cNvPr id="442103662" name="object 104"/>
          <p:cNvSpPr/>
          <p:nvPr/>
        </p:nvSpPr>
        <p:spPr bwMode="auto">
          <a:xfrm>
            <a:off x="9191011" y="81667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800038" name="CustomShape 151"/>
          <p:cNvSpPr/>
          <p:nvPr/>
        </p:nvSpPr>
        <p:spPr bwMode="auto">
          <a:xfrm>
            <a:off x="9690582" y="159826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64612566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4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2004934917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296039" y="94027"/>
            <a:ext cx="315296" cy="500124"/>
          </a:xfrm>
          <a:prstGeom prst="rect">
            <a:avLst/>
          </a:prstGeom>
        </p:spPr>
      </p:pic>
      <p:pic>
        <p:nvPicPr>
          <p:cNvPr id="104729254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3721507" y="568423"/>
            <a:ext cx="3146918" cy="3070987"/>
          </a:xfrm>
          <a:prstGeom prst="rect">
            <a:avLst/>
          </a:prstGeom>
        </p:spPr>
      </p:pic>
      <p:pic>
        <p:nvPicPr>
          <p:cNvPr id="22903240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181363" y="2484332"/>
            <a:ext cx="3114675" cy="300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821193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52797192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032730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ACID </a:t>
            </a:r>
            <a:r>
              <a:rPr lang="ru-RU" sz="2000"/>
              <a:t>и </a:t>
            </a:r>
            <a:r>
              <a:rPr lang="ru-RU" sz="2000"/>
              <a:t>обязанности DBA</a:t>
            </a:r>
            <a:endParaRPr/>
          </a:p>
        </p:txBody>
      </p:sp>
      <p:sp>
        <p:nvSpPr>
          <p:cNvPr id="1504368827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47393500" name="TextBox 19"/>
          <p:cNvSpPr txBox="1"/>
          <p:nvPr/>
        </p:nvSpPr>
        <p:spPr bwMode="auto">
          <a:xfrm>
            <a:off x="164646" y="617919"/>
            <a:ext cx="717853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Обязанности DBA:</a:t>
            </a:r>
            <a:endParaRPr lang="ru-RU" sz="1600">
              <a:latin typeface="Times New Roman"/>
              <a:cs typeface="Times New Roman"/>
            </a:endParaRPr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Установка и настройка СУБД.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Управление пользователями (GRANT/REVOKE).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Бэкапы</a:t>
            </a:r>
            <a:r>
              <a:rPr lang="ru-RU" sz="1600">
                <a:latin typeface="Times New Roman"/>
                <a:cs typeface="Times New Roman"/>
              </a:rPr>
              <a:t> и восстановление.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Мониторинг производительности.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 sz="1600" b="1">
                <a:latin typeface="Times New Roman"/>
                <a:cs typeface="Times New Roman"/>
              </a:rPr>
              <a:t>Свойства ACID:</a:t>
            </a:r>
            <a:endParaRPr lang="ru-RU" sz="1600">
              <a:latin typeface="Times New Roman"/>
              <a:cs typeface="Times New Roman"/>
            </a:endParaRPr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Атомарность (всё или ничего)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Согласованность (целостность данных)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Изоляция (параллельные транзакции не мешают)</a:t>
            </a:r>
            <a:endParaRPr/>
          </a:p>
          <a:p>
            <a:pPr marL="0" lvl="1" indent="179388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>
                <a:latin typeface="Times New Roman"/>
                <a:cs typeface="Times New Roman"/>
              </a:rPr>
              <a:t>Долговечность (данные сохранятся при сбое)</a:t>
            </a:r>
            <a:endParaRPr/>
          </a:p>
        </p:txBody>
      </p:sp>
      <p:sp>
        <p:nvSpPr>
          <p:cNvPr id="1190777702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15944789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3190449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5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451813836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905596540" name="Рисунок 10"/>
          <p:cNvPicPr/>
          <p:nvPr/>
        </p:nvPicPr>
        <p:blipFill>
          <a:blip r:embed="rId6"/>
          <a:stretch/>
        </p:blipFill>
        <p:spPr bwMode="auto">
          <a:xfrm>
            <a:off x="4184300" y="1901825"/>
            <a:ext cx="6233782" cy="1638799"/>
          </a:xfrm>
          <a:prstGeom prst="rect">
            <a:avLst/>
          </a:prstGeom>
        </p:spPr>
      </p:pic>
      <p:pic>
        <p:nvPicPr>
          <p:cNvPr id="1691901286" name="Рисунок 11"/>
          <p:cNvPicPr/>
          <p:nvPr/>
        </p:nvPicPr>
        <p:blipFill>
          <a:blip r:embed="rId7"/>
          <a:stretch/>
        </p:blipFill>
        <p:spPr bwMode="auto">
          <a:xfrm>
            <a:off x="4184300" y="4432947"/>
            <a:ext cx="6119495" cy="1111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088597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8638886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9574510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21301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Структура хранения и модели данных</a:t>
            </a:r>
            <a:endParaRPr/>
          </a:p>
        </p:txBody>
      </p:sp>
      <p:sp>
        <p:nvSpPr>
          <p:cNvPr id="951559685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866935752" name="TextBox 19"/>
          <p:cNvSpPr txBox="1"/>
          <p:nvPr/>
        </p:nvSpPr>
        <p:spPr bwMode="auto">
          <a:xfrm>
            <a:off x="164646" y="617919"/>
            <a:ext cx="736645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b="1">
                <a:latin typeface="Times New Roman"/>
                <a:cs typeface="Times New Roman"/>
              </a:rPr>
              <a:t>Иерархия хранения:</a:t>
            </a:r>
            <a:endParaRPr lang="ru-RU">
              <a:latin typeface="Times New Roman"/>
              <a:cs typeface="Times New Roman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ru-RU">
                <a:latin typeface="Times New Roman"/>
                <a:cs typeface="Times New Roman"/>
              </a:rPr>
              <a:t>БД → Табличное пространство → Сегмент → Экстент → </a:t>
            </a:r>
            <a:r>
              <a:rPr lang="ru-RU" b="1">
                <a:latin typeface="Times New Roman"/>
                <a:cs typeface="Times New Roman"/>
              </a:rPr>
              <a:t>Блок данных</a:t>
            </a:r>
            <a:endParaRPr lang="ru-RU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lang="ru-RU" b="1">
                <a:latin typeface="Times New Roman"/>
                <a:cs typeface="Times New Roman"/>
              </a:rPr>
              <a:t>Модели данных:</a:t>
            </a:r>
            <a:endParaRPr lang="ru-RU">
              <a:latin typeface="Times New Roman"/>
              <a:cs typeface="Times New Roman"/>
            </a:endParaRPr>
          </a:p>
          <a:p>
            <a:pPr marL="285750" lvl="1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ru-RU">
                <a:latin typeface="Times New Roman"/>
                <a:cs typeface="Times New Roman"/>
              </a:rPr>
              <a:t>Реляционная (таблицы, связи, SQL)</a:t>
            </a:r>
            <a:endParaRPr/>
          </a:p>
          <a:p>
            <a:pPr marL="285750" lvl="1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ru-RU">
                <a:latin typeface="Times New Roman"/>
                <a:cs typeface="Times New Roman"/>
              </a:rPr>
              <a:t>NoSQL</a:t>
            </a:r>
            <a:r>
              <a:rPr lang="ru-RU">
                <a:latin typeface="Times New Roman"/>
                <a:cs typeface="Times New Roman"/>
              </a:rPr>
              <a:t> (документы, ключ-значение)</a:t>
            </a:r>
            <a:endParaRPr/>
          </a:p>
        </p:txBody>
      </p:sp>
      <p:sp>
        <p:nvSpPr>
          <p:cNvPr id="1740614946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8331092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211940781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6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931806609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973197984" name="Рисунок 16"/>
          <p:cNvPicPr/>
          <p:nvPr/>
        </p:nvPicPr>
        <p:blipFill>
          <a:blip r:embed="rId6"/>
          <a:srcRect l="3789" t="8965" r="3932" b="5807"/>
          <a:stretch/>
        </p:blipFill>
        <p:spPr bwMode="auto">
          <a:xfrm>
            <a:off x="4254500" y="1597025"/>
            <a:ext cx="6382734" cy="426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83494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8954277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1057742" name="object 9"/>
          <p:cNvSpPr txBox="1">
            <a:spLocks noGrp="1"/>
          </p:cNvSpPr>
          <p:nvPr>
            <p:ph type="title"/>
          </p:nvPr>
        </p:nvSpPr>
        <p:spPr bwMode="auto">
          <a:xfrm>
            <a:off x="977900" y="114778"/>
            <a:ext cx="9122750" cy="307777"/>
          </a:xfrm>
        </p:spPr>
        <p:txBody>
          <a:bodyPr/>
          <a:lstStyle/>
          <a:p>
            <a:pPr>
              <a:defRPr/>
            </a:pPr>
            <a:r>
              <a:rPr lang="ru-RU" sz="2000"/>
              <a:t>ACID </a:t>
            </a:r>
            <a:r>
              <a:rPr lang="ru-RU" sz="2000"/>
              <a:t>и </a:t>
            </a:r>
            <a:r>
              <a:rPr lang="ru-RU" sz="2000"/>
              <a:t>обязанности DBA</a:t>
            </a:r>
            <a:endParaRPr/>
          </a:p>
        </p:txBody>
      </p:sp>
      <p:sp>
        <p:nvSpPr>
          <p:cNvPr id="684158273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530086032" name="TextBox 19"/>
          <p:cNvSpPr txBox="1"/>
          <p:nvPr/>
        </p:nvSpPr>
        <p:spPr bwMode="auto">
          <a:xfrm>
            <a:off x="-50503" y="3983648"/>
            <a:ext cx="71785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/>
              <a:t>Учебная БД «</a:t>
            </a:r>
            <a:r>
              <a:rPr lang="ru-RU" b="1"/>
              <a:t>Кавай</a:t>
            </a:r>
            <a:r>
              <a:rPr lang="ru-RU" b="1"/>
              <a:t> Магазин» — 3 базы данных:</a:t>
            </a:r>
            <a:endParaRPr lang="ru-RU"/>
          </a:p>
          <a:p>
            <a:pPr lvl="1">
              <a:defRPr/>
            </a:pPr>
            <a:r>
              <a:rPr lang="ru-RU" b="1"/>
              <a:t>Bd_belov</a:t>
            </a:r>
            <a:r>
              <a:rPr lang="ru-RU" b="1"/>
              <a:t> (локальная):</a:t>
            </a:r>
            <a:r>
              <a:rPr lang="ru-RU"/>
              <a:t> Пользователи и администраторы.</a:t>
            </a:r>
            <a:endParaRPr/>
          </a:p>
          <a:p>
            <a:pPr lvl="1">
              <a:defRPr/>
            </a:pPr>
            <a:r>
              <a:rPr lang="ru-RU" b="1"/>
              <a:t>project_Chesnokov</a:t>
            </a:r>
            <a:r>
              <a:rPr lang="ru-RU" b="1"/>
              <a:t> (удаленная):</a:t>
            </a:r>
            <a:r>
              <a:rPr lang="ru-RU"/>
              <a:t> Каталог товаров, категории.</a:t>
            </a:r>
            <a:endParaRPr/>
          </a:p>
          <a:p>
            <a:pPr lvl="1">
              <a:defRPr/>
            </a:pPr>
            <a:r>
              <a:rPr lang="ru-RU" b="1"/>
              <a:t>project_Belov</a:t>
            </a:r>
            <a:r>
              <a:rPr lang="ru-RU" b="1"/>
              <a:t> (удаленная):</a:t>
            </a:r>
            <a:r>
              <a:rPr lang="ru-RU"/>
              <a:t> Клиенты и заказы</a:t>
            </a:r>
            <a:r>
              <a:rPr lang="ru-RU"/>
              <a:t>.</a:t>
            </a:r>
            <a:endParaRPr lang="en-US"/>
          </a:p>
          <a:p>
            <a:pPr lvl="1">
              <a:defRPr/>
            </a:pPr>
            <a:r>
              <a:rPr lang="ru-RU" sz="1200" b="1">
                <a:solidFill>
                  <a:srgbClr val="0F1115"/>
                </a:solidFill>
                <a:latin typeface="quote-cjk-patch"/>
              </a:rPr>
              <a:t>Логика связей: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>
                <a:solidFill>
                  <a:srgbClr val="0F1115"/>
                </a:solidFill>
                <a:latin typeface="Menlo"/>
              </a:rPr>
              <a:t>site_users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clients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orders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order_items</a:t>
            </a:r>
            <a:r>
              <a:rPr lang="ru-RU" sz="1200">
                <a:solidFill>
                  <a:srgbClr val="0F1115"/>
                </a:solidFill>
                <a:latin typeface="quote-cjk-patch"/>
              </a:rPr>
              <a:t> → </a:t>
            </a:r>
            <a:r>
              <a:rPr lang="ru-RU">
                <a:solidFill>
                  <a:srgbClr val="0F1115"/>
                </a:solidFill>
                <a:latin typeface="Menlo"/>
              </a:rPr>
              <a:t>products</a:t>
            </a:r>
            <a:endParaRPr lang="ru-RU" sz="1200">
              <a:solidFill>
                <a:srgbClr val="0F1115"/>
              </a:solidFill>
              <a:latin typeface="quote-cjk-patch"/>
            </a:endParaRPr>
          </a:p>
          <a:p>
            <a:pPr lvl="1">
              <a:defRPr/>
            </a:pPr>
            <a:endParaRPr lang="ru-RU"/>
          </a:p>
        </p:txBody>
      </p:sp>
      <p:sp>
        <p:nvSpPr>
          <p:cNvPr id="847570611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0324214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316559673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7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457054057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sp>
        <p:nvSpPr>
          <p:cNvPr id="347483871" name="Прямоугольник 13"/>
          <p:cNvSpPr/>
          <p:nvPr/>
        </p:nvSpPr>
        <p:spPr bwMode="auto">
          <a:xfrm>
            <a:off x="3538765" y="3051744"/>
            <a:ext cx="157286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ea typeface="Times New Roman"/>
              </a:rPr>
              <a:t>Локальная БД</a:t>
            </a:r>
            <a:endParaRPr lang="ru-RU"/>
          </a:p>
        </p:txBody>
      </p:sp>
      <p:pic>
        <p:nvPicPr>
          <p:cNvPr id="1260681618" name="Рисунок 14"/>
          <p:cNvPicPr/>
          <p:nvPr/>
        </p:nvPicPr>
        <p:blipFill>
          <a:blip r:embed="rId6"/>
          <a:srcRect l="8047" t="18439" r="18241" b="14191"/>
          <a:stretch/>
        </p:blipFill>
        <p:spPr bwMode="auto">
          <a:xfrm>
            <a:off x="3392900" y="509610"/>
            <a:ext cx="3970057" cy="2548013"/>
          </a:xfrm>
          <a:prstGeom prst="rect">
            <a:avLst/>
          </a:prstGeom>
        </p:spPr>
      </p:pic>
      <p:sp>
        <p:nvSpPr>
          <p:cNvPr id="1941422329" name="Прямоугольник 15"/>
          <p:cNvSpPr/>
          <p:nvPr/>
        </p:nvSpPr>
        <p:spPr bwMode="auto">
          <a:xfrm>
            <a:off x="8707142" y="2587625"/>
            <a:ext cx="158889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ea typeface="Times New Roman"/>
              </a:rPr>
              <a:t>Удаленная БД</a:t>
            </a:r>
            <a:endParaRPr lang="ru-RU"/>
          </a:p>
        </p:txBody>
      </p:sp>
      <p:pic>
        <p:nvPicPr>
          <p:cNvPr id="1229342034" name="Рисунок 16"/>
          <p:cNvPicPr/>
          <p:nvPr/>
        </p:nvPicPr>
        <p:blipFill>
          <a:blip r:embed="rId7"/>
          <a:srcRect l="3789" t="8965" r="3932" b="5807"/>
          <a:stretch/>
        </p:blipFill>
        <p:spPr bwMode="auto">
          <a:xfrm>
            <a:off x="5843027" y="2936139"/>
            <a:ext cx="4827270" cy="30307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190277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43786901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4147872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562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Процедуры и триггеры</a:t>
            </a:r>
            <a:endParaRPr sz="8000">
              <a:latin typeface="Arial"/>
              <a:cs typeface="Arial"/>
            </a:endParaRPr>
          </a:p>
        </p:txBody>
      </p:sp>
      <p:sp>
        <p:nvSpPr>
          <p:cNvPr id="264258661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736519043" name="TextBox 19"/>
          <p:cNvSpPr txBox="1"/>
          <p:nvPr/>
        </p:nvSpPr>
        <p:spPr bwMode="auto">
          <a:xfrm flipH="0" flipV="0">
            <a:off x="115169" y="829447"/>
            <a:ext cx="4102245" cy="484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Хранимые процедуры:</a:t>
            </a:r>
            <a:endParaRPr sz="2200"/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sp_CreateOrder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создание заказа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sp_UpdateOrderStatus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смена статуса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sp_GetOrdersStatistics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аналитика продаж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Триггеры: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trg_CheckStockBeforeInsert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проверка остатков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trg_AdjustStockOnUpdate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авто-списание товаров</a:t>
            </a:r>
            <a:endParaRPr sz="1600">
              <a:latin typeface="Times New Roman"/>
              <a:cs typeface="Times New Roman"/>
            </a:endParaRPr>
          </a:p>
          <a:p>
            <a:pPr marL="195764" indent="-195764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trg_ValidateClientEmail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проверка email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50292156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0043208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75521235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8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543747356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0759298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055637" y="1392665"/>
            <a:ext cx="6266299" cy="3038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103074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590175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11383351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418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Сетевые решения</a:t>
            </a:r>
            <a:endParaRPr sz="2000"/>
          </a:p>
        </p:txBody>
      </p:sp>
      <p:sp>
        <p:nvSpPr>
          <p:cNvPr id="436952980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125864798" name="TextBox 19"/>
          <p:cNvSpPr txBox="1"/>
          <p:nvPr/>
        </p:nvSpPr>
        <p:spPr bwMode="auto">
          <a:xfrm>
            <a:off x="164646" y="675896"/>
            <a:ext cx="7184653" cy="502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Сегментация (VLAN):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DMZ (веб-серверы) — доступ из интернета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Internal App (БД) — изолирован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 (сотрудники) — только через VPN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 (ACL):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БД принимает трафик ТОЛЬКО от App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Прямой доступ из DMZ в БД — ЗАПРЕЩЕН</a:t>
            </a: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 marL="217793" indent="-217793">
              <a:lnSpc>
                <a:spcPct val="150000"/>
              </a:lnSpc>
              <a:buFont typeface="Arial"/>
              <a:buChar char="•"/>
              <a:defRPr/>
            </a:pPr>
            <a:endParaRPr sz="2200"/>
          </a:p>
          <a:p>
            <a:pPr>
              <a:lnSpc>
                <a:spcPct val="150000"/>
              </a:lnSpc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Отказоустойчивость: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LACP, VRRP, резервный LTE-канал</a:t>
            </a:r>
            <a:endParaRPr sz="2200"/>
          </a:p>
        </p:txBody>
      </p:sp>
      <p:sp>
        <p:nvSpPr>
          <p:cNvPr id="494736739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30170467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44113988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9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133430661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96081476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890955" y="454024"/>
            <a:ext cx="2673265" cy="2252201"/>
          </a:xfrm>
          <a:prstGeom prst="rect">
            <a:avLst/>
          </a:prstGeom>
        </p:spPr>
      </p:pic>
      <p:pic>
        <p:nvPicPr>
          <p:cNvPr id="189460117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070617" y="3190676"/>
            <a:ext cx="3518846" cy="1997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06775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96787188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9128126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4909" cy="305159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Администрирование серверов</a:t>
            </a:r>
            <a:endParaRPr/>
          </a:p>
        </p:txBody>
      </p:sp>
      <p:sp>
        <p:nvSpPr>
          <p:cNvPr id="289240835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0378418" name="TextBox 19"/>
          <p:cNvSpPr txBox="1"/>
          <p:nvPr/>
        </p:nvSpPr>
        <p:spPr bwMode="auto">
          <a:xfrm>
            <a:off x="115169" y="783139"/>
            <a:ext cx="7184654" cy="502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 на Windows: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Установка через MySQL Installer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Настройка как службы (автозапуск)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Конфигурация логов в my.ini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endParaRPr sz="1800" b="1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 на Linux (RedOS):</a:t>
            </a:r>
            <a:endParaRPr sz="1800" b="1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Установка: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dnf install mysql-community-server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Запуск: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systemctl start mysqld</a:t>
            </a:r>
            <a:endParaRPr sz="1800"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mysql_secure_installation</a:t>
            </a:r>
            <a:endParaRPr sz="1800">
              <a:latin typeface="Times New Roman"/>
              <a:ea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endParaRPr sz="1800"/>
          </a:p>
          <a:p>
            <a:pPr>
              <a:lnSpc>
                <a:spcPct val="150000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Удаленный доступ: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SSH-туннель и VPN</a:t>
            </a:r>
            <a:endParaRPr sz="1800"/>
          </a:p>
        </p:txBody>
      </p:sp>
      <p:sp>
        <p:nvSpPr>
          <p:cNvPr id="1911593050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4388720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503641889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10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1579127491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pic>
        <p:nvPicPr>
          <p:cNvPr id="1871490660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5240143" y="1344326"/>
            <a:ext cx="3576934" cy="2631325"/>
          </a:xfrm>
          <a:prstGeom prst="rect">
            <a:avLst/>
          </a:prstGeom>
        </p:spPr>
      </p:pic>
      <p:pic>
        <p:nvPicPr>
          <p:cNvPr id="1864053819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rot="0" flipH="0" flipV="0">
            <a:off x="2891868" y="783139"/>
            <a:ext cx="7587717" cy="364434"/>
          </a:xfrm>
          <a:prstGeom prst="rect">
            <a:avLst/>
          </a:prstGeom>
        </p:spPr>
      </p:pic>
      <p:pic>
        <p:nvPicPr>
          <p:cNvPr id="1595991509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rot="0" flipH="0" flipV="0">
            <a:off x="4462116" y="4270811"/>
            <a:ext cx="5732803" cy="1026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551838" name="object 6"/>
          <p:cNvSpPr/>
          <p:nvPr/>
        </p:nvSpPr>
        <p:spPr bwMode="auto">
          <a:xfrm>
            <a:off x="834090" y="465279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fill="norm" stroke="1" extrusionOk="0">
                <a:moveTo>
                  <a:pt x="0" y="0"/>
                </a:moveTo>
                <a:lnTo>
                  <a:pt x="37946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3087736" name="object 8"/>
          <p:cNvSpPr/>
          <p:nvPr/>
        </p:nvSpPr>
        <p:spPr bwMode="auto">
          <a:xfrm>
            <a:off x="0" y="454025"/>
            <a:ext cx="525780" cy="12700"/>
          </a:xfrm>
          <a:custGeom>
            <a:avLst/>
            <a:gdLst/>
            <a:ahLst/>
            <a:cxnLst/>
            <a:rect l="l" t="t" r="r" b="b"/>
            <a:pathLst>
              <a:path w="525780" h="12700" fill="norm" stroke="1" extrusionOk="0">
                <a:moveTo>
                  <a:pt x="525603" y="0"/>
                </a:moveTo>
                <a:lnTo>
                  <a:pt x="0" y="0"/>
                </a:lnTo>
                <a:lnTo>
                  <a:pt x="0" y="12700"/>
                </a:lnTo>
                <a:lnTo>
                  <a:pt x="525603" y="12700"/>
                </a:lnTo>
                <a:lnTo>
                  <a:pt x="525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06897" name="object 9"/>
          <p:cNvSpPr txBox="1">
            <a:spLocks noGrp="1"/>
          </p:cNvSpPr>
          <p:nvPr>
            <p:ph type="title"/>
          </p:nvPr>
        </p:nvSpPr>
        <p:spPr bwMode="auto">
          <a:xfrm>
            <a:off x="977899" y="114777"/>
            <a:ext cx="9126349" cy="305159"/>
          </a:xfrm>
        </p:spPr>
        <p:txBody>
          <a:bodyPr/>
          <a:lstStyle/>
          <a:p>
            <a:pPr>
              <a:defRPr/>
            </a:pPr>
            <a:r>
              <a:rPr lang="ru-RU" sz="2000"/>
              <a:t>Заключение</a:t>
            </a:r>
            <a:endParaRPr/>
          </a:p>
        </p:txBody>
      </p:sp>
      <p:sp>
        <p:nvSpPr>
          <p:cNvPr id="1670711338" name="AutoShape 2" descr="http://www.makler.su/catalog/ct/photo/c_b_17489.jp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066876315" name="object 104"/>
          <p:cNvSpPr/>
          <p:nvPr/>
        </p:nvSpPr>
        <p:spPr bwMode="auto">
          <a:xfrm>
            <a:off x="9216910" y="73920"/>
            <a:ext cx="372554" cy="50012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6614880" name="CustomShape 151"/>
          <p:cNvSpPr/>
          <p:nvPr/>
        </p:nvSpPr>
        <p:spPr bwMode="auto">
          <a:xfrm>
            <a:off x="9716481" y="152079"/>
            <a:ext cx="478439" cy="465840"/>
          </a:xfrm>
          <a:prstGeom prst="rect">
            <a:avLst/>
          </a:prstGeom>
          <a:blipFill>
            <a:blip r:embed="rId4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sp>
        <p:nvSpPr>
          <p:cNvPr id="1133175010" name="Номер слайда 3"/>
          <p:cNvSpPr>
            <a:spLocks noGrp="1"/>
          </p:cNvSpPr>
          <p:nvPr>
            <p:ph type="sldNum" sz="quarter" idx="7"/>
          </p:nvPr>
        </p:nvSpPr>
        <p:spPr bwMode="auto">
          <a:xfrm>
            <a:off x="115170" y="152079"/>
            <a:ext cx="295437" cy="276999"/>
          </a:xfrm>
        </p:spPr>
        <p:txBody>
          <a:bodyPr/>
          <a:lstStyle/>
          <a:p>
            <a:pPr algn="ctr">
              <a:defRPr/>
            </a:pPr>
            <a:fld id="{B6F15528-21DE-4FAA-801E-634DDDAF4B2B}" type="slidenum">
              <a:rPr lang="ru-RU" b="1">
                <a:solidFill>
                  <a:schemeClr val="tx1"/>
                </a:solidFill>
                <a:latin typeface="Akrobat Black"/>
              </a:rPr>
              <a:t>11</a:t>
            </a:fld>
            <a:endParaRPr lang="ru-RU" b="1">
              <a:solidFill>
                <a:schemeClr val="tx1"/>
              </a:solidFill>
              <a:latin typeface="Akrobat Black"/>
            </a:endParaRPr>
          </a:p>
        </p:txBody>
      </p:sp>
      <p:pic>
        <p:nvPicPr>
          <p:cNvPr id="902296674" name="Рисунок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321938" y="86280"/>
            <a:ext cx="315296" cy="500124"/>
          </a:xfrm>
          <a:prstGeom prst="rect">
            <a:avLst/>
          </a:prstGeom>
        </p:spPr>
      </p:pic>
      <p:sp>
        <p:nvSpPr>
          <p:cNvPr id="755081711" name=""/>
          <p:cNvSpPr txBox="1"/>
          <p:nvPr/>
        </p:nvSpPr>
        <p:spPr bwMode="auto">
          <a:xfrm rot="0" flipH="0" flipV="0">
            <a:off x="1205791" y="1218012"/>
            <a:ext cx="8670565" cy="3612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indent="360043" algn="just">
              <a:lnSpc>
                <a:spcPct val="150000"/>
              </a:lnSpc>
              <a:defRPr/>
            </a:pPr>
            <a:r>
              <a:rPr sz="2200">
                <a:latin typeface="Times New Roman"/>
                <a:ea typeface="Times New Roman"/>
                <a:cs typeface="Times New Roman"/>
              </a:rPr>
              <a:t>В ходе учебной практики по профессиональному модулю ПМ.07 «</a:t>
            </a:r>
            <a:r>
              <a:rPr sz="2200">
                <a:latin typeface="Times New Roman"/>
                <a:ea typeface="Times New Roman"/>
                <a:cs typeface="Times New Roman"/>
              </a:rPr>
              <a:t>Соадминистрирование</a:t>
            </a:r>
            <a:r>
              <a:rPr sz="2200">
                <a:latin typeface="Times New Roman"/>
                <a:ea typeface="Times New Roman"/>
                <a:cs typeface="Times New Roman"/>
              </a:rPr>
              <a:t> баз данных и серверов» были выполнены все виды работ, предусмотренные заданием. Практика охватила три ключевых направления: теоретическое изучение принципов работы СУБД, проектирование учебной базы данных интернет-магазина «</a:t>
            </a:r>
            <a:r>
              <a:rPr sz="2200">
                <a:latin typeface="Times New Roman"/>
                <a:ea typeface="Times New Roman"/>
                <a:cs typeface="Times New Roman"/>
              </a:rPr>
              <a:t>Кавай</a:t>
            </a:r>
            <a:r>
              <a:rPr sz="2200">
                <a:latin typeface="Times New Roman"/>
                <a:ea typeface="Times New Roman"/>
                <a:cs typeface="Times New Roman"/>
              </a:rPr>
              <a:t> Магазин» и практическое развёртывание серверной инфраструктуры.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90771" name="object 3"/>
          <p:cNvSpPr/>
          <p:nvPr/>
        </p:nvSpPr>
        <p:spPr bwMode="auto">
          <a:xfrm>
            <a:off x="0" y="0"/>
            <a:ext cx="10799999" cy="608399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894933" name="object 4"/>
          <p:cNvSpPr/>
          <p:nvPr/>
        </p:nvSpPr>
        <p:spPr bwMode="auto">
          <a:xfrm>
            <a:off x="6183513" y="0"/>
            <a:ext cx="4318635" cy="6084570"/>
          </a:xfrm>
          <a:custGeom>
            <a:avLst/>
            <a:gdLst/>
            <a:ahLst/>
            <a:cxnLst/>
            <a:rect l="l" t="t" r="r" b="b"/>
            <a:pathLst>
              <a:path w="4318634" h="6084570" fill="norm" stroke="1" extrusionOk="0">
                <a:moveTo>
                  <a:pt x="25158" y="1190807"/>
                </a:moveTo>
                <a:lnTo>
                  <a:pt x="12776" y="1174310"/>
                </a:lnTo>
                <a:lnTo>
                  <a:pt x="24726" y="1157610"/>
                </a:lnTo>
                <a:lnTo>
                  <a:pt x="91566" y="1064036"/>
                </a:lnTo>
                <a:lnTo>
                  <a:pt x="7543" y="910036"/>
                </a:lnTo>
                <a:lnTo>
                  <a:pt x="0" y="896167"/>
                </a:lnTo>
                <a:lnTo>
                  <a:pt x="7785" y="882578"/>
                </a:lnTo>
                <a:lnTo>
                  <a:pt x="62877" y="786135"/>
                </a:lnTo>
                <a:lnTo>
                  <a:pt x="21285" y="675226"/>
                </a:lnTo>
                <a:lnTo>
                  <a:pt x="12699" y="652340"/>
                </a:lnTo>
                <a:lnTo>
                  <a:pt x="34315" y="640631"/>
                </a:lnTo>
                <a:lnTo>
                  <a:pt x="404139" y="440276"/>
                </a:lnTo>
                <a:lnTo>
                  <a:pt x="419887" y="431767"/>
                </a:lnTo>
                <a:lnTo>
                  <a:pt x="434339" y="442600"/>
                </a:lnTo>
                <a:lnTo>
                  <a:pt x="535419" y="518419"/>
                </a:lnTo>
                <a:lnTo>
                  <a:pt x="626351" y="401566"/>
                </a:lnTo>
                <a:lnTo>
                  <a:pt x="635177" y="390174"/>
                </a:lnTo>
                <a:lnTo>
                  <a:pt x="649490" y="390657"/>
                </a:lnTo>
                <a:lnTo>
                  <a:pt x="997140" y="402645"/>
                </a:lnTo>
                <a:lnTo>
                  <a:pt x="941133" y="365282"/>
                </a:lnTo>
                <a:lnTo>
                  <a:pt x="910361" y="344797"/>
                </a:lnTo>
                <a:lnTo>
                  <a:pt x="938377" y="320553"/>
                </a:lnTo>
                <a:lnTo>
                  <a:pt x="1169530" y="120236"/>
                </a:lnTo>
                <a:lnTo>
                  <a:pt x="1179118" y="114724"/>
                </a:lnTo>
                <a:lnTo>
                  <a:pt x="1395501" y="42600"/>
                </a:lnTo>
                <a:lnTo>
                  <a:pt x="1406145" y="0"/>
                </a:lnTo>
              </a:path>
              <a:path w="4318634" h="6084570" fill="norm" stroke="1" extrusionOk="0">
                <a:moveTo>
                  <a:pt x="3606453" y="0"/>
                </a:moveTo>
                <a:lnTo>
                  <a:pt x="3674287" y="135653"/>
                </a:lnTo>
                <a:lnTo>
                  <a:pt x="3927373" y="254741"/>
                </a:lnTo>
                <a:lnTo>
                  <a:pt x="3939273" y="265333"/>
                </a:lnTo>
                <a:lnTo>
                  <a:pt x="4170400" y="635119"/>
                </a:lnTo>
                <a:lnTo>
                  <a:pt x="4174705" y="650029"/>
                </a:lnTo>
                <a:lnTo>
                  <a:pt x="4174705" y="869472"/>
                </a:lnTo>
                <a:lnTo>
                  <a:pt x="4274312" y="969065"/>
                </a:lnTo>
                <a:lnTo>
                  <a:pt x="4286618" y="981384"/>
                </a:lnTo>
                <a:lnTo>
                  <a:pt x="4281144" y="997844"/>
                </a:lnTo>
                <a:lnTo>
                  <a:pt x="4234929" y="1136515"/>
                </a:lnTo>
                <a:lnTo>
                  <a:pt x="4223334" y="1151539"/>
                </a:lnTo>
                <a:lnTo>
                  <a:pt x="3720617" y="1471427"/>
                </a:lnTo>
                <a:lnTo>
                  <a:pt x="3499535" y="1869381"/>
                </a:lnTo>
                <a:lnTo>
                  <a:pt x="3632657" y="2209563"/>
                </a:lnTo>
                <a:lnTo>
                  <a:pt x="3770439" y="2454508"/>
                </a:lnTo>
                <a:lnTo>
                  <a:pt x="3773411" y="2474130"/>
                </a:lnTo>
                <a:lnTo>
                  <a:pt x="3619309" y="3198373"/>
                </a:lnTo>
                <a:lnTo>
                  <a:pt x="3616109" y="3213422"/>
                </a:lnTo>
                <a:lnTo>
                  <a:pt x="3601567" y="3218896"/>
                </a:lnTo>
                <a:lnTo>
                  <a:pt x="3552863" y="3237158"/>
                </a:lnTo>
                <a:lnTo>
                  <a:pt x="3648392" y="3268997"/>
                </a:lnTo>
                <a:lnTo>
                  <a:pt x="3821429" y="3139229"/>
                </a:lnTo>
                <a:lnTo>
                  <a:pt x="3837444" y="3127202"/>
                </a:lnTo>
                <a:lnTo>
                  <a:pt x="3853941" y="3138238"/>
                </a:lnTo>
                <a:lnTo>
                  <a:pt x="3992384" y="3230529"/>
                </a:lnTo>
                <a:lnTo>
                  <a:pt x="4221340" y="3352614"/>
                </a:lnTo>
                <a:lnTo>
                  <a:pt x="4236364" y="3360602"/>
                </a:lnTo>
                <a:lnTo>
                  <a:pt x="4236364" y="3583297"/>
                </a:lnTo>
                <a:lnTo>
                  <a:pt x="4216184" y="3589380"/>
                </a:lnTo>
                <a:lnTo>
                  <a:pt x="4079189" y="3630439"/>
                </a:lnTo>
                <a:lnTo>
                  <a:pt x="4053954" y="3794511"/>
                </a:lnTo>
                <a:lnTo>
                  <a:pt x="4268812" y="3923441"/>
                </a:lnTo>
                <a:lnTo>
                  <a:pt x="4282579" y="3931709"/>
                </a:lnTo>
                <a:lnTo>
                  <a:pt x="4282579" y="4155610"/>
                </a:lnTo>
                <a:lnTo>
                  <a:pt x="4259846" y="4160156"/>
                </a:lnTo>
                <a:lnTo>
                  <a:pt x="4116908" y="4188757"/>
                </a:lnTo>
                <a:lnTo>
                  <a:pt x="3957294" y="4420875"/>
                </a:lnTo>
                <a:lnTo>
                  <a:pt x="3904170" y="4699983"/>
                </a:lnTo>
                <a:lnTo>
                  <a:pt x="3973004" y="4690153"/>
                </a:lnTo>
                <a:lnTo>
                  <a:pt x="3993134" y="4687270"/>
                </a:lnTo>
                <a:lnTo>
                  <a:pt x="4178465" y="5057907"/>
                </a:lnTo>
                <a:lnTo>
                  <a:pt x="4170959" y="5071051"/>
                </a:lnTo>
                <a:lnTo>
                  <a:pt x="4053954" y="5275801"/>
                </a:lnTo>
                <a:lnTo>
                  <a:pt x="4078236" y="5348584"/>
                </a:lnTo>
                <a:lnTo>
                  <a:pt x="4257014" y="5497619"/>
                </a:lnTo>
                <a:lnTo>
                  <a:pt x="4265282" y="5509506"/>
                </a:lnTo>
                <a:lnTo>
                  <a:pt x="4311510" y="5632759"/>
                </a:lnTo>
                <a:lnTo>
                  <a:pt x="4318215" y="5650616"/>
                </a:lnTo>
                <a:lnTo>
                  <a:pt x="4304118" y="5663405"/>
                </a:lnTo>
                <a:lnTo>
                  <a:pt x="4149826" y="5803714"/>
                </a:lnTo>
                <a:lnTo>
                  <a:pt x="4218432" y="5954616"/>
                </a:lnTo>
                <a:lnTo>
                  <a:pt x="4226852" y="5973145"/>
                </a:lnTo>
                <a:lnTo>
                  <a:pt x="4211662" y="5987013"/>
                </a:lnTo>
                <a:lnTo>
                  <a:pt x="4105442" y="6083998"/>
                </a:lnTo>
              </a:path>
              <a:path w="4318634" h="6084570" fill="norm" stroke="1" extrusionOk="0">
                <a:moveTo>
                  <a:pt x="2515692" y="6083998"/>
                </a:moveTo>
                <a:lnTo>
                  <a:pt x="2515692" y="6051186"/>
                </a:lnTo>
                <a:lnTo>
                  <a:pt x="2292210" y="6009264"/>
                </a:lnTo>
                <a:lnTo>
                  <a:pt x="2258517" y="6002964"/>
                </a:lnTo>
                <a:lnTo>
                  <a:pt x="2271268" y="5971113"/>
                </a:lnTo>
                <a:lnTo>
                  <a:pt x="2325763" y="5834880"/>
                </a:lnTo>
                <a:lnTo>
                  <a:pt x="2093163" y="5616859"/>
                </a:lnTo>
                <a:lnTo>
                  <a:pt x="2071954" y="5596971"/>
                </a:lnTo>
                <a:lnTo>
                  <a:pt x="2092528" y="5576397"/>
                </a:lnTo>
                <a:lnTo>
                  <a:pt x="2179497" y="5489415"/>
                </a:lnTo>
                <a:lnTo>
                  <a:pt x="2218931" y="5331604"/>
                </a:lnTo>
                <a:lnTo>
                  <a:pt x="1835086" y="5080640"/>
                </a:lnTo>
                <a:lnTo>
                  <a:pt x="1816417" y="5068410"/>
                </a:lnTo>
                <a:lnTo>
                  <a:pt x="1824062" y="5047429"/>
                </a:lnTo>
                <a:lnTo>
                  <a:pt x="1867001" y="4929268"/>
                </a:lnTo>
                <a:lnTo>
                  <a:pt x="1872754" y="4913444"/>
                </a:lnTo>
                <a:lnTo>
                  <a:pt x="1889378" y="4910955"/>
                </a:lnTo>
                <a:lnTo>
                  <a:pt x="1965959" y="4899538"/>
                </a:lnTo>
                <a:lnTo>
                  <a:pt x="1970557" y="4749322"/>
                </a:lnTo>
                <a:lnTo>
                  <a:pt x="1816989" y="4731059"/>
                </a:lnTo>
                <a:lnTo>
                  <a:pt x="1803641" y="4729497"/>
                </a:lnTo>
                <a:lnTo>
                  <a:pt x="1796491" y="4718080"/>
                </a:lnTo>
                <a:lnTo>
                  <a:pt x="1718818" y="4594357"/>
                </a:lnTo>
                <a:lnTo>
                  <a:pt x="1714423" y="4579371"/>
                </a:lnTo>
                <a:lnTo>
                  <a:pt x="1714423" y="4500148"/>
                </a:lnTo>
                <a:lnTo>
                  <a:pt x="1632127" y="4431581"/>
                </a:lnTo>
                <a:lnTo>
                  <a:pt x="1624050" y="4420430"/>
                </a:lnTo>
                <a:lnTo>
                  <a:pt x="1486103" y="4083169"/>
                </a:lnTo>
                <a:lnTo>
                  <a:pt x="1354950" y="3864564"/>
                </a:lnTo>
                <a:lnTo>
                  <a:pt x="1228102" y="3836344"/>
                </a:lnTo>
                <a:lnTo>
                  <a:pt x="1211008" y="3824889"/>
                </a:lnTo>
                <a:lnTo>
                  <a:pt x="1078280" y="3633157"/>
                </a:lnTo>
                <a:lnTo>
                  <a:pt x="734021" y="3543343"/>
                </a:lnTo>
                <a:lnTo>
                  <a:pt x="722426" y="3540346"/>
                </a:lnTo>
                <a:lnTo>
                  <a:pt x="716597" y="3530236"/>
                </a:lnTo>
                <a:lnTo>
                  <a:pt x="485444" y="3129615"/>
                </a:lnTo>
                <a:lnTo>
                  <a:pt x="484123" y="3126846"/>
                </a:lnTo>
                <a:lnTo>
                  <a:pt x="299224" y="2710794"/>
                </a:lnTo>
                <a:lnTo>
                  <a:pt x="291845" y="2694170"/>
                </a:lnTo>
                <a:lnTo>
                  <a:pt x="304063" y="2680594"/>
                </a:lnTo>
                <a:lnTo>
                  <a:pt x="428993" y="2541795"/>
                </a:lnTo>
                <a:lnTo>
                  <a:pt x="285368" y="2297612"/>
                </a:lnTo>
                <a:lnTo>
                  <a:pt x="281368" y="2280963"/>
                </a:lnTo>
                <a:lnTo>
                  <a:pt x="325437" y="1781523"/>
                </a:lnTo>
                <a:lnTo>
                  <a:pt x="211099" y="1756123"/>
                </a:lnTo>
                <a:lnTo>
                  <a:pt x="194195" y="1744972"/>
                </a:lnTo>
                <a:lnTo>
                  <a:pt x="117170" y="1637098"/>
                </a:lnTo>
                <a:lnTo>
                  <a:pt x="103301" y="1617693"/>
                </a:lnTo>
                <a:lnTo>
                  <a:pt x="120167" y="1600827"/>
                </a:lnTo>
                <a:lnTo>
                  <a:pt x="241579" y="1479377"/>
                </a:lnTo>
                <a:lnTo>
                  <a:pt x="25158" y="1190807"/>
                </a:lnTo>
              </a:path>
            </a:pathLst>
          </a:custGeom>
          <a:ln w="25400">
            <a:solidFill>
              <a:srgbClr val="96A9CB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32086928" name="object 5"/>
          <p:cNvSpPr/>
          <p:nvPr/>
        </p:nvSpPr>
        <p:spPr bwMode="auto">
          <a:xfrm>
            <a:off x="0" y="2509659"/>
            <a:ext cx="10800080" cy="1286510"/>
          </a:xfrm>
          <a:custGeom>
            <a:avLst/>
            <a:gdLst/>
            <a:ahLst/>
            <a:cxnLst/>
            <a:rect l="l" t="t" r="r" b="b"/>
            <a:pathLst>
              <a:path w="10800080" h="1286510" fill="norm" stroke="1" extrusionOk="0">
                <a:moveTo>
                  <a:pt x="10800003" y="0"/>
                </a:moveTo>
                <a:lnTo>
                  <a:pt x="0" y="0"/>
                </a:lnTo>
                <a:lnTo>
                  <a:pt x="0" y="1286510"/>
                </a:lnTo>
                <a:lnTo>
                  <a:pt x="10800003" y="1286510"/>
                </a:lnTo>
                <a:lnTo>
                  <a:pt x="108000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77387755" name="object 6"/>
          <p:cNvSpPr/>
          <p:nvPr/>
        </p:nvSpPr>
        <p:spPr bwMode="auto">
          <a:xfrm>
            <a:off x="25400" y="3745373"/>
            <a:ext cx="10774680" cy="50800"/>
          </a:xfrm>
          <a:custGeom>
            <a:avLst/>
            <a:gdLst/>
            <a:ahLst/>
            <a:cxnLst/>
            <a:rect l="l" t="t" r="r" b="b"/>
            <a:pathLst>
              <a:path w="10774680" h="50800" fill="norm" stroke="1" extrusionOk="0">
                <a:moveTo>
                  <a:pt x="0" y="50799"/>
                </a:moveTo>
                <a:lnTo>
                  <a:pt x="10774603" y="50799"/>
                </a:lnTo>
                <a:lnTo>
                  <a:pt x="10774603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6C86B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4616573" name="object 7"/>
          <p:cNvSpPr/>
          <p:nvPr/>
        </p:nvSpPr>
        <p:spPr bwMode="auto">
          <a:xfrm>
            <a:off x="6350" y="2501997"/>
            <a:ext cx="10787380" cy="12700"/>
          </a:xfrm>
          <a:custGeom>
            <a:avLst/>
            <a:gdLst/>
            <a:ahLst/>
            <a:cxnLst/>
            <a:rect l="l" t="t" r="r" b="b"/>
            <a:pathLst>
              <a:path w="10787380" h="12700" fill="norm" stroke="1" extrusionOk="0">
                <a:moveTo>
                  <a:pt x="0" y="12700"/>
                </a:moveTo>
                <a:lnTo>
                  <a:pt x="10787303" y="12700"/>
                </a:lnTo>
                <a:lnTo>
                  <a:pt x="10787303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8096C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4773485" name="object 9"/>
          <p:cNvSpPr/>
          <p:nvPr/>
        </p:nvSpPr>
        <p:spPr bwMode="auto">
          <a:xfrm>
            <a:off x="253373" y="73025"/>
            <a:ext cx="648327" cy="868892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4384566" name="object 11"/>
          <p:cNvSpPr/>
          <p:nvPr/>
        </p:nvSpPr>
        <p:spPr bwMode="auto">
          <a:xfrm>
            <a:off x="7883999" y="727721"/>
            <a:ext cx="1167085" cy="92445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2145430112" name="object 13"/>
          <p:cNvGrpSpPr/>
          <p:nvPr/>
        </p:nvGrpSpPr>
        <p:grpSpPr bwMode="auto">
          <a:xfrm>
            <a:off x="0" y="4915597"/>
            <a:ext cx="10800080" cy="1168400"/>
            <a:chOff x="0" y="4915597"/>
            <a:chExt cx="10800080" cy="1168400"/>
          </a:xfrm>
        </p:grpSpPr>
        <p:sp>
          <p:nvSpPr>
            <p:cNvPr id="14" name="object 14"/>
            <p:cNvSpPr/>
            <p:nvPr/>
          </p:nvSpPr>
          <p:spPr bwMode="auto">
            <a:xfrm>
              <a:off x="0" y="4915597"/>
              <a:ext cx="10800003" cy="1168400"/>
            </a:xfrm>
            <a:prstGeom prst="rect">
              <a:avLst/>
            </a:prstGeom>
            <a:blipFill>
              <a:blip r:embed="rId6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2385093" y="5815322"/>
              <a:ext cx="2178685" cy="269240"/>
            </a:xfrm>
            <a:custGeom>
              <a:avLst/>
              <a:gdLst/>
              <a:ahLst/>
              <a:cxnLst/>
              <a:rect l="l" t="t" r="r" b="b"/>
              <a:pathLst>
                <a:path w="2178685" h="269239" fill="norm" stroke="1" extrusionOk="0">
                  <a:moveTo>
                    <a:pt x="1858238" y="0"/>
                  </a:moveTo>
                  <a:lnTo>
                    <a:pt x="836536" y="0"/>
                  </a:lnTo>
                  <a:lnTo>
                    <a:pt x="716216" y="111290"/>
                  </a:lnTo>
                  <a:lnTo>
                    <a:pt x="669632" y="111290"/>
                  </a:lnTo>
                  <a:lnTo>
                    <a:pt x="710986" y="268676"/>
                  </a:lnTo>
                  <a:lnTo>
                    <a:pt x="972896" y="268676"/>
                  </a:lnTo>
                  <a:lnTo>
                    <a:pt x="971081" y="264331"/>
                  </a:lnTo>
                  <a:lnTo>
                    <a:pt x="968616" y="254279"/>
                  </a:lnTo>
                  <a:lnTo>
                    <a:pt x="939012" y="254279"/>
                  </a:lnTo>
                  <a:lnTo>
                    <a:pt x="939012" y="176263"/>
                  </a:lnTo>
                  <a:lnTo>
                    <a:pt x="957097" y="176263"/>
                  </a:lnTo>
                  <a:lnTo>
                    <a:pt x="957097" y="114503"/>
                  </a:lnTo>
                  <a:lnTo>
                    <a:pt x="1068146" y="77863"/>
                  </a:lnTo>
                  <a:lnTo>
                    <a:pt x="1119352" y="16192"/>
                  </a:lnTo>
                  <a:lnTo>
                    <a:pt x="1515161" y="16192"/>
                  </a:lnTo>
                  <a:lnTo>
                    <a:pt x="1581289" y="7226"/>
                  </a:lnTo>
                  <a:lnTo>
                    <a:pt x="1865189" y="7226"/>
                  </a:lnTo>
                  <a:lnTo>
                    <a:pt x="1858238" y="0"/>
                  </a:lnTo>
                  <a:close/>
                </a:path>
                <a:path w="2178685" h="269239" fill="norm" stroke="1" extrusionOk="0">
                  <a:moveTo>
                    <a:pt x="1297787" y="254279"/>
                  </a:moveTo>
                  <a:lnTo>
                    <a:pt x="1100175" y="254279"/>
                  </a:lnTo>
                  <a:lnTo>
                    <a:pt x="1097716" y="264331"/>
                  </a:lnTo>
                  <a:lnTo>
                    <a:pt x="1095900" y="268676"/>
                  </a:lnTo>
                  <a:lnTo>
                    <a:pt x="1302068" y="268676"/>
                  </a:lnTo>
                  <a:lnTo>
                    <a:pt x="1300252" y="264331"/>
                  </a:lnTo>
                  <a:lnTo>
                    <a:pt x="1297787" y="254279"/>
                  </a:lnTo>
                  <a:close/>
                </a:path>
                <a:path w="2178685" h="269239" fill="norm" stroke="1" extrusionOk="0">
                  <a:moveTo>
                    <a:pt x="1883086" y="25831"/>
                  </a:moveTo>
                  <a:lnTo>
                    <a:pt x="1605775" y="25831"/>
                  </a:lnTo>
                  <a:lnTo>
                    <a:pt x="1611630" y="95110"/>
                  </a:lnTo>
                  <a:lnTo>
                    <a:pt x="1547215" y="104863"/>
                  </a:lnTo>
                  <a:lnTo>
                    <a:pt x="1547215" y="194182"/>
                  </a:lnTo>
                  <a:lnTo>
                    <a:pt x="1473301" y="194182"/>
                  </a:lnTo>
                  <a:lnTo>
                    <a:pt x="1473301" y="254279"/>
                  </a:lnTo>
                  <a:lnTo>
                    <a:pt x="1429346" y="254279"/>
                  </a:lnTo>
                  <a:lnTo>
                    <a:pt x="1426887" y="264331"/>
                  </a:lnTo>
                  <a:lnTo>
                    <a:pt x="1425071" y="268676"/>
                  </a:lnTo>
                  <a:lnTo>
                    <a:pt x="1697062" y="268676"/>
                  </a:lnTo>
                  <a:lnTo>
                    <a:pt x="1878507" y="149529"/>
                  </a:lnTo>
                  <a:lnTo>
                    <a:pt x="2178075" y="149529"/>
                  </a:lnTo>
                  <a:lnTo>
                    <a:pt x="2178075" y="96050"/>
                  </a:lnTo>
                  <a:lnTo>
                    <a:pt x="1950631" y="96050"/>
                  </a:lnTo>
                  <a:lnTo>
                    <a:pt x="1883086" y="25831"/>
                  </a:lnTo>
                  <a:close/>
                </a:path>
                <a:path w="2178685" h="269239" fill="norm" stroke="1" extrusionOk="0">
                  <a:moveTo>
                    <a:pt x="1515161" y="16192"/>
                  </a:moveTo>
                  <a:lnTo>
                    <a:pt x="1252613" y="16192"/>
                  </a:lnTo>
                  <a:lnTo>
                    <a:pt x="1252613" y="51790"/>
                  </a:lnTo>
                  <a:lnTo>
                    <a:pt x="1515161" y="16192"/>
                  </a:lnTo>
                  <a:close/>
                </a:path>
                <a:path w="2178685" h="269239" fill="norm" stroke="1" extrusionOk="0">
                  <a:moveTo>
                    <a:pt x="1865189" y="7226"/>
                  </a:moveTo>
                  <a:lnTo>
                    <a:pt x="1581289" y="7226"/>
                  </a:lnTo>
                  <a:lnTo>
                    <a:pt x="1588846" y="29895"/>
                  </a:lnTo>
                  <a:lnTo>
                    <a:pt x="1605775" y="25831"/>
                  </a:lnTo>
                  <a:lnTo>
                    <a:pt x="1883086" y="25831"/>
                  </a:lnTo>
                  <a:lnTo>
                    <a:pt x="1865189" y="7226"/>
                  </a:lnTo>
                  <a:close/>
                </a:path>
                <a:path w="2178685" h="269239" fill="norm" stroke="1" extrusionOk="0">
                  <a:moveTo>
                    <a:pt x="588886" y="111290"/>
                  </a:moveTo>
                  <a:lnTo>
                    <a:pt x="516623" y="111290"/>
                  </a:lnTo>
                  <a:lnTo>
                    <a:pt x="533351" y="268676"/>
                  </a:lnTo>
                  <a:lnTo>
                    <a:pt x="656107" y="268676"/>
                  </a:lnTo>
                  <a:lnTo>
                    <a:pt x="618820" y="126796"/>
                  </a:lnTo>
                  <a:lnTo>
                    <a:pt x="588886" y="111290"/>
                  </a:lnTo>
                  <a:close/>
                </a:path>
                <a:path w="2178685" h="269239" fill="norm" stroke="1" extrusionOk="0">
                  <a:moveTo>
                    <a:pt x="391744" y="111290"/>
                  </a:moveTo>
                  <a:lnTo>
                    <a:pt x="254444" y="111290"/>
                  </a:lnTo>
                  <a:lnTo>
                    <a:pt x="226822" y="268676"/>
                  </a:lnTo>
                  <a:lnTo>
                    <a:pt x="479968" y="268676"/>
                  </a:lnTo>
                  <a:lnTo>
                    <a:pt x="465772" y="135102"/>
                  </a:lnTo>
                  <a:lnTo>
                    <a:pt x="391744" y="111290"/>
                  </a:lnTo>
                  <a:close/>
                </a:path>
                <a:path w="2178685" h="269239" fill="norm" stroke="1" extrusionOk="0">
                  <a:moveTo>
                    <a:pt x="200533" y="111290"/>
                  </a:moveTo>
                  <a:lnTo>
                    <a:pt x="161747" y="111290"/>
                  </a:lnTo>
                  <a:lnTo>
                    <a:pt x="120394" y="268676"/>
                  </a:lnTo>
                  <a:lnTo>
                    <a:pt x="172907" y="268676"/>
                  </a:lnTo>
                  <a:lnTo>
                    <a:pt x="200533" y="111290"/>
                  </a:lnTo>
                  <a:close/>
                </a:path>
                <a:path w="2178685" h="269239" fill="norm" stroke="1" extrusionOk="0">
                  <a:moveTo>
                    <a:pt x="106870" y="111290"/>
                  </a:moveTo>
                  <a:lnTo>
                    <a:pt x="0" y="111290"/>
                  </a:lnTo>
                  <a:lnTo>
                    <a:pt x="21" y="268676"/>
                  </a:lnTo>
                  <a:lnTo>
                    <a:pt x="65515" y="268676"/>
                  </a:lnTo>
                  <a:lnTo>
                    <a:pt x="106870" y="1112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69603" y="5009198"/>
              <a:ext cx="3008003" cy="1074799"/>
            </a:xfrm>
            <a:prstGeom prst="rect">
              <a:avLst/>
            </a:prstGeom>
            <a:blipFill>
              <a:blip r:embed="rId7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3333381" y="5159908"/>
              <a:ext cx="2115820" cy="924560"/>
            </a:xfrm>
            <a:custGeom>
              <a:avLst/>
              <a:gdLst/>
              <a:ahLst/>
              <a:cxnLst/>
              <a:rect l="l" t="t" r="r" b="b"/>
              <a:pathLst>
                <a:path w="2115820" h="924560" fill="norm" stroke="1" extrusionOk="0">
                  <a:moveTo>
                    <a:pt x="443445" y="898880"/>
                  </a:moveTo>
                  <a:lnTo>
                    <a:pt x="441401" y="888733"/>
                  </a:lnTo>
                  <a:lnTo>
                    <a:pt x="435825" y="880452"/>
                  </a:lnTo>
                  <a:lnTo>
                    <a:pt x="427545" y="874864"/>
                  </a:lnTo>
                  <a:lnTo>
                    <a:pt x="417398" y="872820"/>
                  </a:lnTo>
                  <a:lnTo>
                    <a:pt x="407250" y="874864"/>
                  </a:lnTo>
                  <a:lnTo>
                    <a:pt x="398970" y="880452"/>
                  </a:lnTo>
                  <a:lnTo>
                    <a:pt x="393395" y="888733"/>
                  </a:lnTo>
                  <a:lnTo>
                    <a:pt x="391337" y="898880"/>
                  </a:lnTo>
                  <a:lnTo>
                    <a:pt x="393395" y="909015"/>
                  </a:lnTo>
                  <a:lnTo>
                    <a:pt x="398970" y="917308"/>
                  </a:lnTo>
                  <a:lnTo>
                    <a:pt x="407250" y="922883"/>
                  </a:lnTo>
                  <a:lnTo>
                    <a:pt x="413232" y="924090"/>
                  </a:lnTo>
                  <a:lnTo>
                    <a:pt x="421563" y="924090"/>
                  </a:lnTo>
                  <a:lnTo>
                    <a:pt x="427545" y="922883"/>
                  </a:lnTo>
                  <a:lnTo>
                    <a:pt x="435825" y="917308"/>
                  </a:lnTo>
                  <a:lnTo>
                    <a:pt x="441401" y="909015"/>
                  </a:lnTo>
                  <a:lnTo>
                    <a:pt x="443445" y="898880"/>
                  </a:lnTo>
                  <a:close/>
                </a:path>
                <a:path w="2115820" h="924560" fill="norm" stroke="1" extrusionOk="0">
                  <a:moveTo>
                    <a:pt x="561505" y="799731"/>
                  </a:moveTo>
                  <a:lnTo>
                    <a:pt x="305193" y="799731"/>
                  </a:lnTo>
                  <a:lnTo>
                    <a:pt x="305193" y="805522"/>
                  </a:lnTo>
                  <a:lnTo>
                    <a:pt x="561505" y="805522"/>
                  </a:lnTo>
                  <a:lnTo>
                    <a:pt x="561505" y="799731"/>
                  </a:lnTo>
                  <a:close/>
                </a:path>
                <a:path w="2115820" h="924560" fill="norm" stroke="1" extrusionOk="0">
                  <a:moveTo>
                    <a:pt x="561505" y="777392"/>
                  </a:moveTo>
                  <a:lnTo>
                    <a:pt x="305193" y="777392"/>
                  </a:lnTo>
                  <a:lnTo>
                    <a:pt x="305193" y="783196"/>
                  </a:lnTo>
                  <a:lnTo>
                    <a:pt x="561505" y="783196"/>
                  </a:lnTo>
                  <a:lnTo>
                    <a:pt x="561505" y="777392"/>
                  </a:lnTo>
                  <a:close/>
                </a:path>
                <a:path w="2115820" h="924560" fill="norm" stroke="1" extrusionOk="0">
                  <a:moveTo>
                    <a:pt x="561505" y="763562"/>
                  </a:moveTo>
                  <a:lnTo>
                    <a:pt x="305193" y="763562"/>
                  </a:lnTo>
                  <a:lnTo>
                    <a:pt x="305193" y="769366"/>
                  </a:lnTo>
                  <a:lnTo>
                    <a:pt x="561505" y="769366"/>
                  </a:lnTo>
                  <a:lnTo>
                    <a:pt x="561505" y="763562"/>
                  </a:lnTo>
                  <a:close/>
                </a:path>
                <a:path w="2115820" h="924560" fill="norm" stroke="1" extrusionOk="0">
                  <a:moveTo>
                    <a:pt x="653364" y="742670"/>
                  </a:moveTo>
                  <a:lnTo>
                    <a:pt x="653186" y="740587"/>
                  </a:lnTo>
                  <a:lnTo>
                    <a:pt x="650354" y="707186"/>
                  </a:lnTo>
                  <a:lnTo>
                    <a:pt x="649439" y="696341"/>
                  </a:lnTo>
                  <a:lnTo>
                    <a:pt x="649135" y="692797"/>
                  </a:lnTo>
                  <a:lnTo>
                    <a:pt x="640892" y="694791"/>
                  </a:lnTo>
                  <a:lnTo>
                    <a:pt x="640892" y="732828"/>
                  </a:lnTo>
                  <a:lnTo>
                    <a:pt x="589648" y="740587"/>
                  </a:lnTo>
                  <a:lnTo>
                    <a:pt x="589648" y="735571"/>
                  </a:lnTo>
                  <a:lnTo>
                    <a:pt x="589648" y="723976"/>
                  </a:lnTo>
                  <a:lnTo>
                    <a:pt x="578040" y="723976"/>
                  </a:lnTo>
                  <a:lnTo>
                    <a:pt x="578040" y="735571"/>
                  </a:lnTo>
                  <a:lnTo>
                    <a:pt x="578040" y="828738"/>
                  </a:lnTo>
                  <a:lnTo>
                    <a:pt x="504126" y="828738"/>
                  </a:lnTo>
                  <a:lnTo>
                    <a:pt x="504126" y="840333"/>
                  </a:lnTo>
                  <a:lnTo>
                    <a:pt x="504126" y="888822"/>
                  </a:lnTo>
                  <a:lnTo>
                    <a:pt x="471766" y="888822"/>
                  </a:lnTo>
                  <a:lnTo>
                    <a:pt x="449529" y="853097"/>
                  </a:lnTo>
                  <a:lnTo>
                    <a:pt x="447357" y="851293"/>
                  </a:lnTo>
                  <a:lnTo>
                    <a:pt x="437603" y="845997"/>
                  </a:lnTo>
                  <a:lnTo>
                    <a:pt x="426834" y="842657"/>
                  </a:lnTo>
                  <a:lnTo>
                    <a:pt x="415264" y="841502"/>
                  </a:lnTo>
                  <a:lnTo>
                    <a:pt x="403707" y="842657"/>
                  </a:lnTo>
                  <a:lnTo>
                    <a:pt x="369062" y="864844"/>
                  </a:lnTo>
                  <a:lnTo>
                    <a:pt x="358762" y="888822"/>
                  </a:lnTo>
                  <a:lnTo>
                    <a:pt x="295033" y="888822"/>
                  </a:lnTo>
                  <a:lnTo>
                    <a:pt x="295033" y="840333"/>
                  </a:lnTo>
                  <a:lnTo>
                    <a:pt x="504126" y="840333"/>
                  </a:lnTo>
                  <a:lnTo>
                    <a:pt x="504126" y="828738"/>
                  </a:lnTo>
                  <a:lnTo>
                    <a:pt x="295033" y="828738"/>
                  </a:lnTo>
                  <a:lnTo>
                    <a:pt x="295033" y="735571"/>
                  </a:lnTo>
                  <a:lnTo>
                    <a:pt x="578040" y="735571"/>
                  </a:lnTo>
                  <a:lnTo>
                    <a:pt x="578040" y="723976"/>
                  </a:lnTo>
                  <a:lnTo>
                    <a:pt x="335826" y="723976"/>
                  </a:lnTo>
                  <a:lnTo>
                    <a:pt x="381165" y="717829"/>
                  </a:lnTo>
                  <a:lnTo>
                    <a:pt x="618705" y="685622"/>
                  </a:lnTo>
                  <a:lnTo>
                    <a:pt x="626833" y="710031"/>
                  </a:lnTo>
                  <a:lnTo>
                    <a:pt x="638721" y="707186"/>
                  </a:lnTo>
                  <a:lnTo>
                    <a:pt x="640892" y="732828"/>
                  </a:lnTo>
                  <a:lnTo>
                    <a:pt x="640892" y="694791"/>
                  </a:lnTo>
                  <a:lnTo>
                    <a:pt x="634441" y="696341"/>
                  </a:lnTo>
                  <a:lnTo>
                    <a:pt x="630885" y="685622"/>
                  </a:lnTo>
                  <a:lnTo>
                    <a:pt x="626630" y="672871"/>
                  </a:lnTo>
                  <a:lnTo>
                    <a:pt x="295033" y="717829"/>
                  </a:lnTo>
                  <a:lnTo>
                    <a:pt x="295033" y="692492"/>
                  </a:lnTo>
                  <a:lnTo>
                    <a:pt x="295033" y="680897"/>
                  </a:lnTo>
                  <a:lnTo>
                    <a:pt x="175399" y="680897"/>
                  </a:lnTo>
                  <a:lnTo>
                    <a:pt x="140373" y="723099"/>
                  </a:lnTo>
                  <a:lnTo>
                    <a:pt x="140373" y="880211"/>
                  </a:lnTo>
                  <a:lnTo>
                    <a:pt x="136906" y="872172"/>
                  </a:lnTo>
                  <a:lnTo>
                    <a:pt x="132295" y="864831"/>
                  </a:lnTo>
                  <a:lnTo>
                    <a:pt x="136906" y="872172"/>
                  </a:lnTo>
                  <a:lnTo>
                    <a:pt x="140373" y="880211"/>
                  </a:lnTo>
                  <a:lnTo>
                    <a:pt x="140373" y="723099"/>
                  </a:lnTo>
                  <a:lnTo>
                    <a:pt x="125285" y="741260"/>
                  </a:lnTo>
                  <a:lnTo>
                    <a:pt x="39903" y="769429"/>
                  </a:lnTo>
                  <a:lnTo>
                    <a:pt x="39903" y="864831"/>
                  </a:lnTo>
                  <a:lnTo>
                    <a:pt x="35293" y="872172"/>
                  </a:lnTo>
                  <a:lnTo>
                    <a:pt x="31826" y="880211"/>
                  </a:lnTo>
                  <a:lnTo>
                    <a:pt x="35293" y="872172"/>
                  </a:lnTo>
                  <a:lnTo>
                    <a:pt x="39903" y="864831"/>
                  </a:lnTo>
                  <a:lnTo>
                    <a:pt x="39903" y="769429"/>
                  </a:lnTo>
                  <a:lnTo>
                    <a:pt x="18072" y="776630"/>
                  </a:lnTo>
                  <a:lnTo>
                    <a:pt x="18072" y="840968"/>
                  </a:lnTo>
                  <a:lnTo>
                    <a:pt x="0" y="840968"/>
                  </a:lnTo>
                  <a:lnTo>
                    <a:pt x="0" y="900417"/>
                  </a:lnTo>
                  <a:lnTo>
                    <a:pt x="28727" y="900417"/>
                  </a:lnTo>
                  <a:lnTo>
                    <a:pt x="30124" y="911542"/>
                  </a:lnTo>
                  <a:lnTo>
                    <a:pt x="33528" y="921893"/>
                  </a:lnTo>
                  <a:lnTo>
                    <a:pt x="34759" y="924090"/>
                  </a:lnTo>
                  <a:lnTo>
                    <a:pt x="47929" y="924090"/>
                  </a:lnTo>
                  <a:lnTo>
                    <a:pt x="81940" y="924090"/>
                  </a:lnTo>
                  <a:lnTo>
                    <a:pt x="90258" y="924090"/>
                  </a:lnTo>
                  <a:lnTo>
                    <a:pt x="124269" y="924090"/>
                  </a:lnTo>
                  <a:lnTo>
                    <a:pt x="137452" y="924090"/>
                  </a:lnTo>
                  <a:lnTo>
                    <a:pt x="138684" y="921880"/>
                  </a:lnTo>
                  <a:lnTo>
                    <a:pt x="142087" y="911529"/>
                  </a:lnTo>
                  <a:lnTo>
                    <a:pt x="143459" y="900417"/>
                  </a:lnTo>
                  <a:lnTo>
                    <a:pt x="357911" y="900417"/>
                  </a:lnTo>
                  <a:lnTo>
                    <a:pt x="359308" y="911542"/>
                  </a:lnTo>
                  <a:lnTo>
                    <a:pt x="362699" y="921893"/>
                  </a:lnTo>
                  <a:lnTo>
                    <a:pt x="363918" y="924090"/>
                  </a:lnTo>
                  <a:lnTo>
                    <a:pt x="377101" y="924090"/>
                  </a:lnTo>
                  <a:lnTo>
                    <a:pt x="373087" y="916698"/>
                  </a:lnTo>
                  <a:lnTo>
                    <a:pt x="370420" y="908100"/>
                  </a:lnTo>
                  <a:lnTo>
                    <a:pt x="369646" y="900417"/>
                  </a:lnTo>
                  <a:lnTo>
                    <a:pt x="369481" y="898880"/>
                  </a:lnTo>
                  <a:lnTo>
                    <a:pt x="370420" y="889647"/>
                  </a:lnTo>
                  <a:lnTo>
                    <a:pt x="397446" y="856691"/>
                  </a:lnTo>
                  <a:lnTo>
                    <a:pt x="415264" y="853097"/>
                  </a:lnTo>
                  <a:lnTo>
                    <a:pt x="424497" y="854024"/>
                  </a:lnTo>
                  <a:lnTo>
                    <a:pt x="457454" y="881049"/>
                  </a:lnTo>
                  <a:lnTo>
                    <a:pt x="461048" y="898880"/>
                  </a:lnTo>
                  <a:lnTo>
                    <a:pt x="460121" y="908100"/>
                  </a:lnTo>
                  <a:lnTo>
                    <a:pt x="457454" y="916698"/>
                  </a:lnTo>
                  <a:lnTo>
                    <a:pt x="453440" y="924090"/>
                  </a:lnTo>
                  <a:lnTo>
                    <a:pt x="466623" y="924090"/>
                  </a:lnTo>
                  <a:lnTo>
                    <a:pt x="467855" y="921880"/>
                  </a:lnTo>
                  <a:lnTo>
                    <a:pt x="471258" y="911529"/>
                  </a:lnTo>
                  <a:lnTo>
                    <a:pt x="472630" y="900417"/>
                  </a:lnTo>
                  <a:lnTo>
                    <a:pt x="515721" y="900417"/>
                  </a:lnTo>
                  <a:lnTo>
                    <a:pt x="515721" y="888822"/>
                  </a:lnTo>
                  <a:lnTo>
                    <a:pt x="515721" y="840333"/>
                  </a:lnTo>
                  <a:lnTo>
                    <a:pt x="589648" y="840333"/>
                  </a:lnTo>
                  <a:lnTo>
                    <a:pt x="589648" y="828738"/>
                  </a:lnTo>
                  <a:lnTo>
                    <a:pt x="589648" y="752297"/>
                  </a:lnTo>
                  <a:lnTo>
                    <a:pt x="653364" y="742670"/>
                  </a:lnTo>
                  <a:close/>
                </a:path>
                <a:path w="2115820" h="924560" fill="norm" stroke="1" extrusionOk="0">
                  <a:moveTo>
                    <a:pt x="1229779" y="590562"/>
                  </a:moveTo>
                  <a:lnTo>
                    <a:pt x="1128814" y="590562"/>
                  </a:lnTo>
                  <a:lnTo>
                    <a:pt x="1128814" y="739521"/>
                  </a:lnTo>
                  <a:lnTo>
                    <a:pt x="1229779" y="739521"/>
                  </a:lnTo>
                  <a:lnTo>
                    <a:pt x="1229779" y="590562"/>
                  </a:lnTo>
                  <a:close/>
                </a:path>
                <a:path w="2115820" h="924560" fill="norm" stroke="1" extrusionOk="0">
                  <a:moveTo>
                    <a:pt x="1611909" y="0"/>
                  </a:moveTo>
                  <a:lnTo>
                    <a:pt x="1575777" y="0"/>
                  </a:lnTo>
                  <a:lnTo>
                    <a:pt x="1575777" y="86664"/>
                  </a:lnTo>
                  <a:lnTo>
                    <a:pt x="1575777" y="137845"/>
                  </a:lnTo>
                  <a:lnTo>
                    <a:pt x="1575777" y="497027"/>
                  </a:lnTo>
                  <a:lnTo>
                    <a:pt x="1534604" y="497027"/>
                  </a:lnTo>
                  <a:lnTo>
                    <a:pt x="1534604" y="445846"/>
                  </a:lnTo>
                  <a:lnTo>
                    <a:pt x="1575777" y="445846"/>
                  </a:lnTo>
                  <a:lnTo>
                    <a:pt x="1575777" y="377304"/>
                  </a:lnTo>
                  <a:lnTo>
                    <a:pt x="1534604" y="377304"/>
                  </a:lnTo>
                  <a:lnTo>
                    <a:pt x="1534604" y="326110"/>
                  </a:lnTo>
                  <a:lnTo>
                    <a:pt x="1575777" y="326110"/>
                  </a:lnTo>
                  <a:lnTo>
                    <a:pt x="1575777" y="257581"/>
                  </a:lnTo>
                  <a:lnTo>
                    <a:pt x="1534604" y="257581"/>
                  </a:lnTo>
                  <a:lnTo>
                    <a:pt x="1534604" y="206400"/>
                  </a:lnTo>
                  <a:lnTo>
                    <a:pt x="1575777" y="206400"/>
                  </a:lnTo>
                  <a:lnTo>
                    <a:pt x="1575777" y="137845"/>
                  </a:lnTo>
                  <a:lnTo>
                    <a:pt x="1534604" y="137845"/>
                  </a:lnTo>
                  <a:lnTo>
                    <a:pt x="1534604" y="86664"/>
                  </a:lnTo>
                  <a:lnTo>
                    <a:pt x="1575777" y="86664"/>
                  </a:lnTo>
                  <a:lnTo>
                    <a:pt x="1575777" y="0"/>
                  </a:lnTo>
                  <a:lnTo>
                    <a:pt x="1511388" y="0"/>
                  </a:lnTo>
                  <a:lnTo>
                    <a:pt x="1511388" y="86664"/>
                  </a:lnTo>
                  <a:lnTo>
                    <a:pt x="1511388" y="137845"/>
                  </a:lnTo>
                  <a:lnTo>
                    <a:pt x="1511388" y="497027"/>
                  </a:lnTo>
                  <a:lnTo>
                    <a:pt x="1470215" y="497027"/>
                  </a:lnTo>
                  <a:lnTo>
                    <a:pt x="1470215" y="445846"/>
                  </a:lnTo>
                  <a:lnTo>
                    <a:pt x="1511388" y="445846"/>
                  </a:lnTo>
                  <a:lnTo>
                    <a:pt x="1511388" y="377304"/>
                  </a:lnTo>
                  <a:lnTo>
                    <a:pt x="1470215" y="377304"/>
                  </a:lnTo>
                  <a:lnTo>
                    <a:pt x="1470215" y="326110"/>
                  </a:lnTo>
                  <a:lnTo>
                    <a:pt x="1511388" y="326110"/>
                  </a:lnTo>
                  <a:lnTo>
                    <a:pt x="1511388" y="257581"/>
                  </a:lnTo>
                  <a:lnTo>
                    <a:pt x="1470215" y="257581"/>
                  </a:lnTo>
                  <a:lnTo>
                    <a:pt x="1470215" y="206400"/>
                  </a:lnTo>
                  <a:lnTo>
                    <a:pt x="1511388" y="206400"/>
                  </a:lnTo>
                  <a:lnTo>
                    <a:pt x="1511388" y="137845"/>
                  </a:lnTo>
                  <a:lnTo>
                    <a:pt x="1470215" y="137845"/>
                  </a:lnTo>
                  <a:lnTo>
                    <a:pt x="1470215" y="86664"/>
                  </a:lnTo>
                  <a:lnTo>
                    <a:pt x="1511388" y="86664"/>
                  </a:lnTo>
                  <a:lnTo>
                    <a:pt x="1511388" y="0"/>
                  </a:lnTo>
                  <a:lnTo>
                    <a:pt x="1446987" y="0"/>
                  </a:lnTo>
                  <a:lnTo>
                    <a:pt x="1446987" y="86664"/>
                  </a:lnTo>
                  <a:lnTo>
                    <a:pt x="1446987" y="137845"/>
                  </a:lnTo>
                  <a:lnTo>
                    <a:pt x="1446987" y="497027"/>
                  </a:lnTo>
                  <a:lnTo>
                    <a:pt x="1405813" y="497027"/>
                  </a:lnTo>
                  <a:lnTo>
                    <a:pt x="1405813" y="445846"/>
                  </a:lnTo>
                  <a:lnTo>
                    <a:pt x="1446987" y="445846"/>
                  </a:lnTo>
                  <a:lnTo>
                    <a:pt x="1446987" y="377304"/>
                  </a:lnTo>
                  <a:lnTo>
                    <a:pt x="1405813" y="377304"/>
                  </a:lnTo>
                  <a:lnTo>
                    <a:pt x="1405813" y="326110"/>
                  </a:lnTo>
                  <a:lnTo>
                    <a:pt x="1446987" y="326110"/>
                  </a:lnTo>
                  <a:lnTo>
                    <a:pt x="1446987" y="257581"/>
                  </a:lnTo>
                  <a:lnTo>
                    <a:pt x="1405813" y="257581"/>
                  </a:lnTo>
                  <a:lnTo>
                    <a:pt x="1405813" y="206400"/>
                  </a:lnTo>
                  <a:lnTo>
                    <a:pt x="1446987" y="206400"/>
                  </a:lnTo>
                  <a:lnTo>
                    <a:pt x="1446987" y="137845"/>
                  </a:lnTo>
                  <a:lnTo>
                    <a:pt x="1405813" y="137845"/>
                  </a:lnTo>
                  <a:lnTo>
                    <a:pt x="1405813" y="86664"/>
                  </a:lnTo>
                  <a:lnTo>
                    <a:pt x="1446987" y="86664"/>
                  </a:lnTo>
                  <a:lnTo>
                    <a:pt x="1446987" y="0"/>
                  </a:lnTo>
                  <a:lnTo>
                    <a:pt x="1382598" y="0"/>
                  </a:lnTo>
                  <a:lnTo>
                    <a:pt x="1382598" y="86664"/>
                  </a:lnTo>
                  <a:lnTo>
                    <a:pt x="1382598" y="137845"/>
                  </a:lnTo>
                  <a:lnTo>
                    <a:pt x="1382598" y="497027"/>
                  </a:lnTo>
                  <a:lnTo>
                    <a:pt x="1341424" y="497027"/>
                  </a:lnTo>
                  <a:lnTo>
                    <a:pt x="1341424" y="445846"/>
                  </a:lnTo>
                  <a:lnTo>
                    <a:pt x="1382598" y="445846"/>
                  </a:lnTo>
                  <a:lnTo>
                    <a:pt x="1382598" y="377304"/>
                  </a:lnTo>
                  <a:lnTo>
                    <a:pt x="1341424" y="377304"/>
                  </a:lnTo>
                  <a:lnTo>
                    <a:pt x="1341424" y="326110"/>
                  </a:lnTo>
                  <a:lnTo>
                    <a:pt x="1382598" y="326110"/>
                  </a:lnTo>
                  <a:lnTo>
                    <a:pt x="1382598" y="257581"/>
                  </a:lnTo>
                  <a:lnTo>
                    <a:pt x="1341424" y="257581"/>
                  </a:lnTo>
                  <a:lnTo>
                    <a:pt x="1341424" y="206400"/>
                  </a:lnTo>
                  <a:lnTo>
                    <a:pt x="1382598" y="206400"/>
                  </a:lnTo>
                  <a:lnTo>
                    <a:pt x="1382598" y="137845"/>
                  </a:lnTo>
                  <a:lnTo>
                    <a:pt x="1341424" y="137845"/>
                  </a:lnTo>
                  <a:lnTo>
                    <a:pt x="1341424" y="86664"/>
                  </a:lnTo>
                  <a:lnTo>
                    <a:pt x="1382598" y="86664"/>
                  </a:lnTo>
                  <a:lnTo>
                    <a:pt x="1382598" y="0"/>
                  </a:lnTo>
                  <a:lnTo>
                    <a:pt x="1318183" y="0"/>
                  </a:lnTo>
                  <a:lnTo>
                    <a:pt x="1318183" y="86664"/>
                  </a:lnTo>
                  <a:lnTo>
                    <a:pt x="1318183" y="137845"/>
                  </a:lnTo>
                  <a:lnTo>
                    <a:pt x="1318183" y="497027"/>
                  </a:lnTo>
                  <a:lnTo>
                    <a:pt x="1277010" y="497027"/>
                  </a:lnTo>
                  <a:lnTo>
                    <a:pt x="1277010" y="445846"/>
                  </a:lnTo>
                  <a:lnTo>
                    <a:pt x="1318183" y="445846"/>
                  </a:lnTo>
                  <a:lnTo>
                    <a:pt x="1318183" y="377304"/>
                  </a:lnTo>
                  <a:lnTo>
                    <a:pt x="1277010" y="377304"/>
                  </a:lnTo>
                  <a:lnTo>
                    <a:pt x="1277010" y="326110"/>
                  </a:lnTo>
                  <a:lnTo>
                    <a:pt x="1318183" y="326110"/>
                  </a:lnTo>
                  <a:lnTo>
                    <a:pt x="1318183" y="257581"/>
                  </a:lnTo>
                  <a:lnTo>
                    <a:pt x="1277010" y="257581"/>
                  </a:lnTo>
                  <a:lnTo>
                    <a:pt x="1277010" y="206400"/>
                  </a:lnTo>
                  <a:lnTo>
                    <a:pt x="1318183" y="206400"/>
                  </a:lnTo>
                  <a:lnTo>
                    <a:pt x="1318183" y="137845"/>
                  </a:lnTo>
                  <a:lnTo>
                    <a:pt x="1277010" y="137845"/>
                  </a:lnTo>
                  <a:lnTo>
                    <a:pt x="1277010" y="86664"/>
                  </a:lnTo>
                  <a:lnTo>
                    <a:pt x="1318183" y="86664"/>
                  </a:lnTo>
                  <a:lnTo>
                    <a:pt x="1318183" y="0"/>
                  </a:lnTo>
                  <a:lnTo>
                    <a:pt x="1241971" y="0"/>
                  </a:lnTo>
                  <a:lnTo>
                    <a:pt x="1241971" y="806907"/>
                  </a:lnTo>
                  <a:lnTo>
                    <a:pt x="1611909" y="806907"/>
                  </a:lnTo>
                  <a:lnTo>
                    <a:pt x="1611909" y="736498"/>
                  </a:lnTo>
                  <a:lnTo>
                    <a:pt x="1277010" y="736485"/>
                  </a:lnTo>
                  <a:lnTo>
                    <a:pt x="1277010" y="685304"/>
                  </a:lnTo>
                  <a:lnTo>
                    <a:pt x="1318183" y="685304"/>
                  </a:lnTo>
                  <a:lnTo>
                    <a:pt x="1318183" y="736485"/>
                  </a:lnTo>
                  <a:lnTo>
                    <a:pt x="1341424" y="736485"/>
                  </a:lnTo>
                  <a:lnTo>
                    <a:pt x="1341424" y="685304"/>
                  </a:lnTo>
                  <a:lnTo>
                    <a:pt x="1382598" y="685304"/>
                  </a:lnTo>
                  <a:lnTo>
                    <a:pt x="1382598" y="736485"/>
                  </a:lnTo>
                  <a:lnTo>
                    <a:pt x="1405813" y="736485"/>
                  </a:lnTo>
                  <a:lnTo>
                    <a:pt x="1405813" y="685304"/>
                  </a:lnTo>
                  <a:lnTo>
                    <a:pt x="1446987" y="685304"/>
                  </a:lnTo>
                  <a:lnTo>
                    <a:pt x="1446987" y="736485"/>
                  </a:lnTo>
                  <a:lnTo>
                    <a:pt x="1470215" y="736485"/>
                  </a:lnTo>
                  <a:lnTo>
                    <a:pt x="1470215" y="685304"/>
                  </a:lnTo>
                  <a:lnTo>
                    <a:pt x="1511388" y="685304"/>
                  </a:lnTo>
                  <a:lnTo>
                    <a:pt x="1511388" y="736485"/>
                  </a:lnTo>
                  <a:lnTo>
                    <a:pt x="1534604" y="736485"/>
                  </a:lnTo>
                  <a:lnTo>
                    <a:pt x="1534604" y="685304"/>
                  </a:lnTo>
                  <a:lnTo>
                    <a:pt x="1575777" y="685304"/>
                  </a:lnTo>
                  <a:lnTo>
                    <a:pt x="1575777" y="736485"/>
                  </a:lnTo>
                  <a:lnTo>
                    <a:pt x="1611909" y="736498"/>
                  </a:lnTo>
                  <a:lnTo>
                    <a:pt x="1611909" y="685304"/>
                  </a:lnTo>
                  <a:lnTo>
                    <a:pt x="1611909" y="616775"/>
                  </a:lnTo>
                  <a:lnTo>
                    <a:pt x="1277010" y="616762"/>
                  </a:lnTo>
                  <a:lnTo>
                    <a:pt x="1277010" y="565581"/>
                  </a:lnTo>
                  <a:lnTo>
                    <a:pt x="1318183" y="565581"/>
                  </a:lnTo>
                  <a:lnTo>
                    <a:pt x="1318183" y="616762"/>
                  </a:lnTo>
                  <a:lnTo>
                    <a:pt x="1341424" y="616762"/>
                  </a:lnTo>
                  <a:lnTo>
                    <a:pt x="1341424" y="565581"/>
                  </a:lnTo>
                  <a:lnTo>
                    <a:pt x="1382598" y="565581"/>
                  </a:lnTo>
                  <a:lnTo>
                    <a:pt x="1382598" y="616762"/>
                  </a:lnTo>
                  <a:lnTo>
                    <a:pt x="1405813" y="616762"/>
                  </a:lnTo>
                  <a:lnTo>
                    <a:pt x="1405813" y="565581"/>
                  </a:lnTo>
                  <a:lnTo>
                    <a:pt x="1446987" y="565581"/>
                  </a:lnTo>
                  <a:lnTo>
                    <a:pt x="1446987" y="616762"/>
                  </a:lnTo>
                  <a:lnTo>
                    <a:pt x="1470215" y="616762"/>
                  </a:lnTo>
                  <a:lnTo>
                    <a:pt x="1470215" y="565581"/>
                  </a:lnTo>
                  <a:lnTo>
                    <a:pt x="1511388" y="565581"/>
                  </a:lnTo>
                  <a:lnTo>
                    <a:pt x="1511388" y="616762"/>
                  </a:lnTo>
                  <a:lnTo>
                    <a:pt x="1534604" y="616762"/>
                  </a:lnTo>
                  <a:lnTo>
                    <a:pt x="1534604" y="565581"/>
                  </a:lnTo>
                  <a:lnTo>
                    <a:pt x="1575777" y="565581"/>
                  </a:lnTo>
                  <a:lnTo>
                    <a:pt x="1575777" y="616762"/>
                  </a:lnTo>
                  <a:lnTo>
                    <a:pt x="1611909" y="616775"/>
                  </a:lnTo>
                  <a:lnTo>
                    <a:pt x="1611909" y="86664"/>
                  </a:lnTo>
                  <a:lnTo>
                    <a:pt x="1611909" y="0"/>
                  </a:lnTo>
                  <a:close/>
                </a:path>
                <a:path w="2115820" h="924560" fill="norm" stroke="1" extrusionOk="0">
                  <a:moveTo>
                    <a:pt x="2115401" y="822807"/>
                  </a:moveTo>
                  <a:lnTo>
                    <a:pt x="935558" y="822807"/>
                  </a:lnTo>
                  <a:lnTo>
                    <a:pt x="781291" y="924090"/>
                  </a:lnTo>
                  <a:lnTo>
                    <a:pt x="2115401" y="924090"/>
                  </a:lnTo>
                  <a:lnTo>
                    <a:pt x="2115401" y="822807"/>
                  </a:lnTo>
                  <a:close/>
                </a:path>
                <a:path w="2115820" h="924560" fill="norm" stroke="1" extrusionOk="0">
                  <a:moveTo>
                    <a:pt x="2115401" y="754481"/>
                  </a:moveTo>
                  <a:lnTo>
                    <a:pt x="1624291" y="754481"/>
                  </a:lnTo>
                  <a:lnTo>
                    <a:pt x="1624291" y="806831"/>
                  </a:lnTo>
                  <a:lnTo>
                    <a:pt x="2115401" y="806831"/>
                  </a:lnTo>
                  <a:lnTo>
                    <a:pt x="2115401" y="754481"/>
                  </a:lnTo>
                  <a:close/>
                </a:path>
                <a:path w="2115820" h="924560" fill="norm" stroke="1" extrusionOk="0">
                  <a:moveTo>
                    <a:pt x="2115413" y="739533"/>
                  </a:moveTo>
                  <a:lnTo>
                    <a:pt x="1624291" y="590575"/>
                  </a:lnTo>
                  <a:lnTo>
                    <a:pt x="1624291" y="739533"/>
                  </a:lnTo>
                  <a:lnTo>
                    <a:pt x="2115413" y="7395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5616056" y="5075618"/>
              <a:ext cx="5183946" cy="1008380"/>
            </a:xfrm>
            <a:prstGeom prst="rect">
              <a:avLst/>
            </a:prstGeom>
            <a:blipFill>
              <a:blip r:embed="rId8"/>
              <a:stretch/>
            </a:blip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23004845" name="object 12"/>
          <p:cNvSpPr txBox="1"/>
          <p:nvPr/>
        </p:nvSpPr>
        <p:spPr bwMode="auto">
          <a:xfrm>
            <a:off x="901700" y="2697319"/>
            <a:ext cx="892854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z="4400" b="1" spc="-30">
                <a:solidFill>
                  <a:srgbClr val="204791"/>
                </a:solidFill>
                <a:latin typeface="Arial"/>
                <a:cs typeface="Arial"/>
              </a:rPr>
              <a:t>Благодарю </a:t>
            </a:r>
            <a:r>
              <a:rPr lang="ru-RU" sz="4400" b="1" spc="120">
                <a:solidFill>
                  <a:srgbClr val="204791"/>
                </a:solidFill>
                <a:latin typeface="Arial"/>
                <a:cs typeface="Arial"/>
              </a:rPr>
              <a:t>за</a:t>
            </a:r>
            <a:r>
              <a:rPr lang="ru-RU" sz="4400" b="1" spc="-15">
                <a:solidFill>
                  <a:srgbClr val="204791"/>
                </a:solidFill>
                <a:latin typeface="Arial"/>
                <a:cs typeface="Arial"/>
              </a:rPr>
              <a:t> </a:t>
            </a:r>
            <a:r>
              <a:rPr lang="ru-RU" sz="4400" b="1" spc="-70">
                <a:solidFill>
                  <a:srgbClr val="204791"/>
                </a:solidFill>
                <a:latin typeface="Arial"/>
                <a:cs typeface="Arial"/>
              </a:rPr>
              <a:t>внимание!</a:t>
            </a:r>
            <a:endParaRPr lang="ru-RU" sz="4400">
              <a:latin typeface="Arial"/>
              <a:cs typeface="Arial"/>
            </a:endParaRPr>
          </a:p>
        </p:txBody>
      </p:sp>
      <p:sp>
        <p:nvSpPr>
          <p:cNvPr id="1100126176" name="CustomShape 151"/>
          <p:cNvSpPr>
            <a:spLocks noChangeAspect="1"/>
          </p:cNvSpPr>
          <p:nvPr/>
        </p:nvSpPr>
        <p:spPr bwMode="auto">
          <a:xfrm>
            <a:off x="1047834" y="121464"/>
            <a:ext cx="842644" cy="820453"/>
          </a:xfrm>
          <a:prstGeom prst="rect">
            <a:avLst/>
          </a:prstGeom>
          <a:blipFill>
            <a:blip r:embed="rId9"/>
            <a:stretch/>
          </a:blip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</p:sp>
      <p:pic>
        <p:nvPicPr>
          <p:cNvPr id="916921004" name="Рисунок 21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2029331" y="102425"/>
            <a:ext cx="530044" cy="839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ONLYOFFICE/9.0.0.172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Кузбасский государственный технический  университет имени Т.Ф. Горбачева</dc:title>
  <dc:creator>Павельева Наталья Васильевна</dc:creator>
  <cp:lastModifiedBy/>
  <cp:revision>312</cp:revision>
  <dcterms:created xsi:type="dcterms:W3CDTF">2020-11-23T06:34:48Z</dcterms:created>
  <dcterms:modified xsi:type="dcterms:W3CDTF">2026-06-02T05:47:33Z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2020-11-23T00:00:00Z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2020-11-23T00:00:00Z</vt:filetime>
  </property>
</Properties>
</file>